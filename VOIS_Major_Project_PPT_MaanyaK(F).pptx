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A6809-9812-3967-C248-1602922F7903}" v="165" dt="2026-09-09T15:06:52.098"/>
    <p1510:client id="{9FDB09E5-660F-4931-985E-96524F2BE38F}" v="13" dt="2026-09-09T15:42:29.517"/>
    <p1510:client id="{A2B3E201-93A9-46F8-807B-4C03B955F8F5}" v="197" dt="2026-09-07T16:21:02.36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aanyak13/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Maanyak13/Seasonal-Agriculture-Performance-Analysi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3445" y="3774721"/>
            <a:ext cx="5498197" cy="871935"/>
          </a:xfrm>
        </p:spPr>
        <p:txBody>
          <a:bodyPr vert="horz" lIns="91440" tIns="45720" rIns="91440" bIns="45720" rtlCol="0" anchor="t">
            <a:normAutofit fontScale="85000" lnSpcReduction="10000"/>
          </a:bodyPr>
          <a:lstStyle/>
          <a:p>
            <a:r>
              <a:rPr lang="en-US" b="0" dirty="0">
                <a:solidFill>
                  <a:schemeClr val="tx1"/>
                </a:solidFill>
              </a:rPr>
              <a:t>Student Name-Maanya K </a:t>
            </a:r>
            <a:endParaRPr lang="en-IN" b="0" dirty="0">
              <a:solidFill>
                <a:schemeClr val="tx1"/>
              </a:solidFill>
            </a:endParaRPr>
          </a:p>
          <a:p>
            <a:r>
              <a:rPr lang="en-US" b="0" dirty="0">
                <a:solidFill>
                  <a:schemeClr val="tx1"/>
                </a:solidFill>
              </a:rPr>
              <a:t>College Name- M S Ramaiah Institute of Technology </a:t>
            </a:r>
            <a:endParaRPr lang="en-IN" b="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8069" y="2568441"/>
            <a:ext cx="11595454" cy="1086531"/>
          </a:xfrm>
        </p:spPr>
        <p:txBody>
          <a:bodyPr>
            <a:normAutofit/>
          </a:bodyPr>
          <a:lstStyle/>
          <a:p>
            <a:pPr algn="ctr"/>
            <a:r>
              <a:rPr lang="en-GB" sz="3200" dirty="0"/>
              <a:t>Project Title –</a:t>
            </a:r>
            <a:r>
              <a:rPr lang="en-GB" sz="3200" b="1" dirty="0">
                <a:latin typeface="Times New Roman"/>
                <a:cs typeface="Times New Roman"/>
              </a:rPr>
              <a:t>SEASONAL AGRICULTURE PERFORMANCE DATA  ANALYSIS</a:t>
            </a:r>
            <a:endParaRPr lang="en-IN" sz="3200" b="1">
              <a:latin typeface="Times New Roman"/>
              <a:cs typeface="Times New Roman"/>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88465" y="4766969"/>
            <a:ext cx="6145920" cy="369332"/>
          </a:xfrm>
          <a:prstGeom prst="rect">
            <a:avLst/>
          </a:prstGeom>
          <a:noFill/>
        </p:spPr>
        <p:txBody>
          <a:bodyPr wrap="square" lIns="91440" tIns="45720" rIns="91440" bIns="45720" rtlCol="0" anchor="t">
            <a:spAutoFit/>
          </a:bodyPr>
          <a:lstStyle/>
          <a:p>
            <a:r>
              <a:rPr lang="en-US" b="1" dirty="0"/>
              <a:t>AICTE STU ID : STU6a4fbd29908081783610665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64645" y="1865117"/>
            <a:ext cx="6984512" cy="4610068"/>
          </a:xfrm>
        </p:spPr>
        <p:txBody>
          <a:bodyPr vert="horz" lIns="91440" tIns="45720" rIns="91440" bIns="45720" rtlCol="0" anchor="t">
            <a:noAutofit/>
          </a:bodyPr>
          <a:lstStyle/>
          <a:p>
            <a:pPr>
              <a:lnSpc>
                <a:spcPct val="150000"/>
              </a:lnSpc>
            </a:pPr>
            <a:r>
              <a:rPr lang="en-IN" sz="1800" dirty="0">
                <a:ea typeface="+mn-lt"/>
                <a:cs typeface="+mn-lt"/>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1800" dirty="0" err="1">
                <a:ea typeface="+mn-lt"/>
                <a:cs typeface="+mn-lt"/>
              </a:rPr>
              <a:t>analyze</a:t>
            </a:r>
            <a:r>
              <a:rPr lang="en-IN" sz="1800" dirty="0">
                <a:ea typeface="+mn-lt"/>
                <a:cs typeface="+mn-lt"/>
              </a:rPr>
              <a:t> the given agricultural dataset and investigate seasonal differences in agricultural performance by identifying meaningful patterns, trends, relationships and variations within the available data. </a:t>
            </a:r>
            <a:endParaRPr lang="en-IN" sz="1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76741C-ABB3-0B6D-6862-E0456EA939D1}"/>
              </a:ext>
            </a:extLst>
          </p:cNvPr>
          <p:cNvSpPr/>
          <p:nvPr/>
        </p:nvSpPr>
        <p:spPr>
          <a:xfrm>
            <a:off x="560036" y="6454421"/>
            <a:ext cx="2044133" cy="266017"/>
          </a:xfrm>
          <a:prstGeom prst="rect">
            <a:avLst/>
          </a:prstGeom>
          <a:solidFill>
            <a:schemeClr val="bg1">
              <a:lumMod val="95000"/>
            </a:schemeClr>
          </a:solidFill>
          <a:ln w="635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51633" y="408555"/>
            <a:ext cx="8854380" cy="830997"/>
          </a:xfrm>
        </p:spPr>
        <p:txBody>
          <a:bodyPr>
            <a:normAutofit fontScale="90000"/>
          </a:bodyPr>
          <a:lstStyle/>
          <a:p>
            <a:r>
              <a:rPr lang="en-GB" dirty="0"/>
              <a:t>Project Description</a:t>
            </a:r>
            <a:br>
              <a:rPr lang="en-GB" dirty="0"/>
            </a:br>
            <a:r>
              <a:rPr lang="en-GB" dirty="0"/>
              <a:t> </a:t>
            </a:r>
            <a:br>
              <a:rPr lang="en-GB" dirty="0"/>
            </a:br>
            <a:r>
              <a:rPr lang="en-GB" sz="1800" dirty="0"/>
              <a:t>Project Overview:</a:t>
            </a:r>
            <a:endParaRPr lang="en-GB" sz="1800" b="0" dirty="0"/>
          </a:p>
          <a:p>
            <a:r>
              <a:rPr lang="en-GB" sz="1800" b="0" dirty="0" err="1"/>
              <a:t>Analyzes</a:t>
            </a:r>
            <a:r>
              <a:rPr lang="en-GB" sz="1800" b="0" dirty="0"/>
              <a:t> agricultural data across different </a:t>
            </a:r>
            <a:r>
              <a:rPr lang="en-GB" sz="1800" dirty="0"/>
              <a:t>seasons, crops, regions, environmental conditions, farming practices, resource usage, and economic factors</a:t>
            </a:r>
            <a:r>
              <a:rPr lang="en-GB" sz="1800" b="0" dirty="0"/>
              <a:t> to identify meaningful patterns and variations in agricultural performance.</a:t>
            </a:r>
            <a:br>
              <a:rPr lang="en-GB" sz="1800" b="0" dirty="0"/>
            </a:br>
            <a:endParaRPr lang="en-GB" sz="1800" b="0"/>
          </a:p>
          <a:p>
            <a:r>
              <a:rPr lang="en-GB" sz="1800" dirty="0"/>
              <a:t>What We </a:t>
            </a:r>
            <a:r>
              <a:rPr lang="en-GB" sz="1800" dirty="0" err="1"/>
              <a:t>Analyze</a:t>
            </a:r>
            <a:r>
              <a:rPr lang="en-GB" sz="1800" dirty="0"/>
              <a:t>:</a:t>
            </a:r>
            <a:endParaRPr lang="en-GB" sz="1800" b="0"/>
          </a:p>
          <a:p>
            <a:r>
              <a:rPr lang="en-GB" sz="1800" b="0" dirty="0"/>
              <a:t>🌦️ </a:t>
            </a:r>
            <a:r>
              <a:rPr lang="en-GB" sz="1800" dirty="0"/>
              <a:t>Environmental Factors:</a:t>
            </a:r>
            <a:r>
              <a:rPr lang="en-GB" sz="1800" b="0" dirty="0"/>
              <a:t> Rainfall, temperature, humidity, soil conditions</a:t>
            </a:r>
          </a:p>
          <a:p>
            <a:r>
              <a:rPr lang="en-GB" sz="1800" b="0" dirty="0"/>
              <a:t>🌱 </a:t>
            </a:r>
            <a:r>
              <a:rPr lang="en-GB" sz="1800" dirty="0"/>
              <a:t>Farming Factors:</a:t>
            </a:r>
            <a:r>
              <a:rPr lang="en-GB" sz="1800" b="0" dirty="0"/>
              <a:t> Crop, irrigation, fertilizer, pesticide, seed quality</a:t>
            </a:r>
          </a:p>
          <a:p>
            <a:r>
              <a:rPr lang="en-GB" sz="1800" b="0" dirty="0"/>
              <a:t>📊 </a:t>
            </a:r>
            <a:r>
              <a:rPr lang="en-GB" sz="1800" dirty="0"/>
              <a:t>Performance:</a:t>
            </a:r>
            <a:r>
              <a:rPr lang="en-GB" sz="1800" b="0" dirty="0"/>
              <a:t> Yield, production, water usage &amp; efficiency</a:t>
            </a:r>
          </a:p>
          <a:p>
            <a:r>
              <a:rPr lang="en-GB" sz="1800" b="0" dirty="0"/>
              <a:t>💰 </a:t>
            </a:r>
            <a:r>
              <a:rPr lang="en-GB" sz="1800" dirty="0"/>
              <a:t>Economics:</a:t>
            </a:r>
            <a:r>
              <a:rPr lang="en-GB" sz="1800" b="0" dirty="0"/>
              <a:t> Cost, revenue, market price &amp; profit</a:t>
            </a:r>
          </a:p>
          <a:p>
            <a:r>
              <a:rPr lang="en-GB" sz="1800" b="0" dirty="0"/>
              <a:t>📍 </a:t>
            </a:r>
            <a:r>
              <a:rPr lang="en-GB" sz="1800" dirty="0"/>
              <a:t>Regional &amp; Seasonal:</a:t>
            </a:r>
            <a:r>
              <a:rPr lang="en-GB" sz="1800" b="0" dirty="0"/>
              <a:t> Comparison across states, crops and seasons</a:t>
            </a:r>
            <a:br>
              <a:rPr lang="en-GB" sz="1800" b="0" dirty="0"/>
            </a:br>
            <a:endParaRPr lang="en-GB" sz="1800" b="0"/>
          </a:p>
          <a:p>
            <a:r>
              <a:rPr lang="en-GB" sz="1800" dirty="0"/>
              <a:t>Approach:</a:t>
            </a:r>
            <a:endParaRPr lang="en-GB" sz="1800" b="0" dirty="0"/>
          </a:p>
          <a:p>
            <a:r>
              <a:rPr lang="en-GB" sz="1800" b="0" dirty="0"/>
              <a:t>Data Cleaning → Statistical Analysis → Visualization → Seasonal Comparison → Bivariate &amp; Multivariate Analysis → Insights &amp; Recommendations</a:t>
            </a:r>
            <a:br>
              <a:rPr lang="en-GB" sz="1800" b="0" dirty="0"/>
            </a:br>
            <a:endParaRPr lang="en-GB" sz="1800" b="0"/>
          </a:p>
          <a:p>
            <a:r>
              <a:rPr lang="en-GB" sz="1800" dirty="0"/>
              <a:t>Outcome:</a:t>
            </a:r>
            <a:endParaRPr lang="en-GB" sz="1800" b="0" dirty="0"/>
          </a:p>
          <a:p>
            <a:r>
              <a:rPr lang="en-GB" sz="1800" b="0" dirty="0"/>
              <a:t>Provides </a:t>
            </a:r>
            <a:r>
              <a:rPr lang="en-GB" sz="1800" dirty="0"/>
              <a:t>evidence-based insights</a:t>
            </a:r>
            <a:r>
              <a:rPr lang="en-GB" sz="1800" b="0" dirty="0"/>
              <a:t> to understand seasonal agricultural performance and support </a:t>
            </a:r>
            <a:r>
              <a:rPr lang="en-GB" sz="1800" dirty="0"/>
              <a:t>data-driven crop planning, resource management, and decision-making</a:t>
            </a:r>
            <a:r>
              <a:rPr lang="en-GB" sz="1800" b="0" dirty="0"/>
              <a:t>.</a:t>
            </a:r>
          </a:p>
          <a:p>
            <a:endParaRPr lang="en-GB" sz="1800" b="0" dirty="0"/>
          </a:p>
          <a:p>
            <a:endParaRPr lang="en-GB" dirty="0"/>
          </a:p>
          <a:p>
            <a:endParaRPr lang="en-GB" sz="18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16975" y="1991360"/>
            <a:ext cx="9010944" cy="4428433"/>
          </a:xfrm>
        </p:spPr>
        <p:txBody>
          <a:bodyPr vert="horz" lIns="91440" tIns="45720" rIns="91440" bIns="45720" rtlCol="0" anchor="t">
            <a:noAutofit/>
          </a:bodyPr>
          <a:lstStyle/>
          <a:p>
            <a:r>
              <a:rPr lang="en-IN" sz="1800" b="1" dirty="0">
                <a:solidFill>
                  <a:schemeClr val="tx1"/>
                </a:solidFill>
                <a:ea typeface="+mn-lt"/>
                <a:cs typeface="+mn-lt"/>
              </a:rPr>
              <a:t>Farmers:</a:t>
            </a:r>
            <a:r>
              <a:rPr lang="en-IN" sz="1800" dirty="0">
                <a:solidFill>
                  <a:schemeClr val="tx1"/>
                </a:solidFill>
                <a:ea typeface="+mn-lt"/>
                <a:cs typeface="+mn-lt"/>
              </a:rPr>
              <a:t> To inform choices on crop and resource allocation for enhanced agricultural productions.</a:t>
            </a:r>
            <a:endParaRPr lang="en-IN" sz="1800">
              <a:solidFill>
                <a:schemeClr val="tx1"/>
              </a:solidFill>
            </a:endParaRPr>
          </a:p>
          <a:p>
            <a:r>
              <a:rPr lang="en-IN" sz="1800" b="1" dirty="0">
                <a:solidFill>
                  <a:schemeClr val="tx1"/>
                </a:solidFill>
                <a:ea typeface="+mn-lt"/>
                <a:cs typeface="+mn-lt"/>
              </a:rPr>
              <a:t>Agricultural Officers and Departments:</a:t>
            </a:r>
            <a:r>
              <a:rPr lang="en-IN" sz="1800" dirty="0">
                <a:solidFill>
                  <a:schemeClr val="tx1"/>
                </a:solidFill>
                <a:ea typeface="+mn-lt"/>
                <a:cs typeface="+mn-lt"/>
              </a:rPr>
              <a:t> For use as a decision-support tool in agricultural planning and management.</a:t>
            </a:r>
            <a:endParaRPr lang="en-IN" sz="1800">
              <a:solidFill>
                <a:schemeClr val="tx1"/>
              </a:solidFill>
            </a:endParaRPr>
          </a:p>
          <a:p>
            <a:r>
              <a:rPr lang="en-IN" sz="1800" b="1" dirty="0">
                <a:solidFill>
                  <a:schemeClr val="tx1"/>
                </a:solidFill>
                <a:ea typeface="+mn-lt"/>
                <a:cs typeface="+mn-lt"/>
              </a:rPr>
              <a:t>Researchers and Agronomists</a:t>
            </a:r>
            <a:r>
              <a:rPr lang="en-IN" sz="1800" dirty="0">
                <a:solidFill>
                  <a:schemeClr val="tx1"/>
                </a:solidFill>
                <a:ea typeface="+mn-lt"/>
                <a:cs typeface="+mn-lt"/>
              </a:rPr>
              <a:t>: To carry out crop yield analysis and determine the relationship between various environmental </a:t>
            </a:r>
            <a:r>
              <a:rPr lang="en-IN" sz="1800" dirty="0" err="1">
                <a:solidFill>
                  <a:schemeClr val="tx1"/>
                </a:solidFill>
                <a:ea typeface="+mn-lt"/>
                <a:cs typeface="+mn-lt"/>
              </a:rPr>
              <a:t>attributesand</a:t>
            </a:r>
            <a:r>
              <a:rPr lang="en-IN" sz="1800" dirty="0">
                <a:solidFill>
                  <a:schemeClr val="tx1"/>
                </a:solidFill>
                <a:ea typeface="+mn-lt"/>
                <a:cs typeface="+mn-lt"/>
              </a:rPr>
              <a:t> agricultural productivity.</a:t>
            </a:r>
            <a:endParaRPr lang="en-IN" sz="1800" dirty="0">
              <a:solidFill>
                <a:schemeClr val="tx1"/>
              </a:solidFill>
            </a:endParaRPr>
          </a:p>
          <a:p>
            <a:r>
              <a:rPr lang="en-IN" sz="1800" b="1" dirty="0">
                <a:solidFill>
                  <a:schemeClr val="tx1"/>
                </a:solidFill>
                <a:ea typeface="+mn-lt"/>
                <a:cs typeface="+mn-lt"/>
              </a:rPr>
              <a:t>Agricultural planners and decision-makers</a:t>
            </a:r>
            <a:r>
              <a:rPr lang="en-IN" sz="1800" dirty="0">
                <a:solidFill>
                  <a:schemeClr val="tx1"/>
                </a:solidFill>
                <a:ea typeface="+mn-lt"/>
                <a:cs typeface="+mn-lt"/>
              </a:rPr>
              <a:t>: To make informed decision on agricultural activities including; planting, harvesting, and allocation of resources.</a:t>
            </a:r>
            <a:endParaRPr lang="en-IN" sz="1800">
              <a:solidFill>
                <a:schemeClr val="tx1"/>
              </a:solidFill>
            </a:endParaRPr>
          </a:p>
          <a:p>
            <a:r>
              <a:rPr lang="en-IN" sz="1800" b="1" dirty="0">
                <a:solidFill>
                  <a:schemeClr val="tx1"/>
                </a:solidFill>
                <a:ea typeface="+mn-lt"/>
                <a:cs typeface="+mn-lt"/>
              </a:rPr>
              <a:t>Agribusiness and Resource Managers:</a:t>
            </a:r>
            <a:r>
              <a:rPr lang="en-IN" sz="1800" dirty="0">
                <a:solidFill>
                  <a:schemeClr val="tx1"/>
                </a:solidFill>
                <a:ea typeface="+mn-lt"/>
                <a:cs typeface="+mn-lt"/>
              </a:rPr>
              <a:t> To make sound decisions on production, profit margin, water utilization and geographical distribution of their products.</a:t>
            </a:r>
            <a:endParaRPr lang="en-IN" sz="1800">
              <a:solidFill>
                <a:schemeClr val="tx1"/>
              </a:solidFill>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31740" y="743629"/>
            <a:ext cx="9090333" cy="6099392"/>
          </a:xfrm>
        </p:spPr>
        <p:txBody>
          <a:bodyPr vert="horz" lIns="91440" tIns="45720" rIns="91440" bIns="45720" rtlCol="0" anchor="t">
            <a:normAutofit lnSpcReduction="10000"/>
          </a:bodyPr>
          <a:lstStyle/>
          <a:p>
            <a:pPr marL="0" indent="0">
              <a:lnSpc>
                <a:spcPct val="100000"/>
              </a:lnSpc>
              <a:buNone/>
            </a:pPr>
            <a:endParaRPr lang="en-IN" dirty="0">
              <a:solidFill>
                <a:srgbClr val="404040"/>
              </a:solidFill>
              <a:ea typeface="+mn-lt"/>
              <a:cs typeface="+mn-lt"/>
            </a:endParaRPr>
          </a:p>
          <a:p>
            <a:pPr lvl="1"/>
            <a:r>
              <a:rPr lang="en-IN" sz="1800" b="1" dirty="0">
                <a:solidFill>
                  <a:schemeClr val="tx1"/>
                </a:solidFill>
                <a:ea typeface="+mn-lt"/>
                <a:cs typeface="+mn-lt"/>
              </a:rPr>
              <a:t>Python</a:t>
            </a:r>
            <a:r>
              <a:rPr lang="en-IN" sz="1800" dirty="0">
                <a:solidFill>
                  <a:schemeClr val="tx1"/>
                </a:solidFill>
                <a:ea typeface="+mn-lt"/>
                <a:cs typeface="+mn-lt"/>
              </a:rPr>
              <a:t> – For data processing, analysis, and interpretation.</a:t>
            </a:r>
            <a:endParaRPr lang="en-IN" sz="1800" dirty="0">
              <a:solidFill>
                <a:schemeClr val="tx1"/>
              </a:solidFill>
            </a:endParaRPr>
          </a:p>
          <a:p>
            <a:pPr lvl="1"/>
            <a:r>
              <a:rPr lang="en-IN" sz="1800" b="1" dirty="0">
                <a:solidFill>
                  <a:schemeClr val="tx1"/>
                </a:solidFill>
                <a:ea typeface="+mn-lt"/>
                <a:cs typeface="+mn-lt"/>
              </a:rPr>
              <a:t>Google </a:t>
            </a:r>
            <a:r>
              <a:rPr lang="en-IN" sz="1800" b="1" dirty="0" err="1">
                <a:solidFill>
                  <a:schemeClr val="tx1"/>
                </a:solidFill>
                <a:ea typeface="+mn-lt"/>
                <a:cs typeface="+mn-lt"/>
              </a:rPr>
              <a:t>Colab</a:t>
            </a:r>
            <a:r>
              <a:rPr lang="en-IN" sz="1800" dirty="0">
                <a:solidFill>
                  <a:schemeClr val="tx1"/>
                </a:solidFill>
                <a:ea typeface="+mn-lt"/>
                <a:cs typeface="+mn-lt"/>
              </a:rPr>
              <a:t> – It is used to execute Python codes and document the analysis work.</a:t>
            </a:r>
            <a:endParaRPr lang="en-IN" sz="1800" dirty="0">
              <a:solidFill>
                <a:schemeClr val="tx1"/>
              </a:solidFill>
            </a:endParaRPr>
          </a:p>
          <a:p>
            <a:pPr lvl="1"/>
            <a:r>
              <a:rPr lang="en-IN" sz="1800" b="1" dirty="0">
                <a:solidFill>
                  <a:schemeClr val="tx1"/>
                </a:solidFill>
                <a:ea typeface="+mn-lt"/>
                <a:cs typeface="+mn-lt"/>
              </a:rPr>
              <a:t>Pandas</a:t>
            </a:r>
            <a:r>
              <a:rPr lang="en-IN" sz="1800" dirty="0">
                <a:solidFill>
                  <a:schemeClr val="tx1"/>
                </a:solidFill>
                <a:ea typeface="+mn-lt"/>
                <a:cs typeface="+mn-lt"/>
              </a:rPr>
              <a:t> – It is a library used to load data into Python, clean and wrangle data including handling missing data and group data.</a:t>
            </a:r>
            <a:endParaRPr lang="en-IN" sz="1800" dirty="0">
              <a:solidFill>
                <a:schemeClr val="tx1"/>
              </a:solidFill>
            </a:endParaRPr>
          </a:p>
          <a:p>
            <a:pPr lvl="1"/>
            <a:r>
              <a:rPr lang="en-IN" sz="1800" b="1" dirty="0" err="1">
                <a:solidFill>
                  <a:schemeClr val="tx1"/>
                </a:solidFill>
                <a:ea typeface="+mn-lt"/>
                <a:cs typeface="+mn-lt"/>
              </a:rPr>
              <a:t>Numpy</a:t>
            </a:r>
            <a:r>
              <a:rPr lang="en-IN" sz="1800" dirty="0">
                <a:solidFill>
                  <a:schemeClr val="tx1"/>
                </a:solidFill>
                <a:ea typeface="+mn-lt"/>
                <a:cs typeface="+mn-lt"/>
              </a:rPr>
              <a:t> – It is used during data processing and analysis.</a:t>
            </a:r>
            <a:endParaRPr lang="en-IN" sz="1800" dirty="0">
              <a:solidFill>
                <a:schemeClr val="tx1"/>
              </a:solidFill>
            </a:endParaRPr>
          </a:p>
          <a:p>
            <a:pPr lvl="1"/>
            <a:r>
              <a:rPr lang="en-IN" sz="1800" b="1" dirty="0">
                <a:solidFill>
                  <a:schemeClr val="tx1"/>
                </a:solidFill>
                <a:ea typeface="+mn-lt"/>
                <a:cs typeface="+mn-lt"/>
              </a:rPr>
              <a:t>Matplotlib</a:t>
            </a:r>
            <a:r>
              <a:rPr lang="en-IN" sz="1800" dirty="0">
                <a:solidFill>
                  <a:schemeClr val="tx1"/>
                </a:solidFill>
                <a:ea typeface="+mn-lt"/>
                <a:cs typeface="+mn-lt"/>
              </a:rPr>
              <a:t> – It is an external library used to generate basic graphics and graphs.</a:t>
            </a:r>
            <a:endParaRPr lang="en-IN" sz="1800" dirty="0">
              <a:solidFill>
                <a:schemeClr val="tx1"/>
              </a:solidFill>
            </a:endParaRPr>
          </a:p>
          <a:p>
            <a:pPr lvl="1"/>
            <a:r>
              <a:rPr lang="en-IN" sz="1800" b="1" dirty="0">
                <a:solidFill>
                  <a:schemeClr val="tx1"/>
                </a:solidFill>
                <a:ea typeface="+mn-lt"/>
                <a:cs typeface="+mn-lt"/>
              </a:rPr>
              <a:t>Seaborn </a:t>
            </a:r>
            <a:r>
              <a:rPr lang="en-IN" sz="1800" dirty="0">
                <a:solidFill>
                  <a:schemeClr val="tx1"/>
                </a:solidFill>
                <a:ea typeface="+mn-lt"/>
                <a:cs typeface="+mn-lt"/>
              </a:rPr>
              <a:t>– It is used to generate statistical graphics including boxplot, scatter plot, pair plot, and heatmap.</a:t>
            </a:r>
            <a:endParaRPr lang="en-IN" sz="1800" dirty="0">
              <a:solidFill>
                <a:schemeClr val="tx1"/>
              </a:solidFill>
            </a:endParaRPr>
          </a:p>
          <a:p>
            <a:pPr lvl="1"/>
            <a:r>
              <a:rPr lang="en-IN" sz="1800" b="1" dirty="0">
                <a:solidFill>
                  <a:schemeClr val="tx1"/>
                </a:solidFill>
                <a:ea typeface="+mn-lt"/>
                <a:cs typeface="+mn-lt"/>
              </a:rPr>
              <a:t>Statistical techniques</a:t>
            </a:r>
            <a:r>
              <a:rPr lang="en-IN" sz="1800" dirty="0">
                <a:solidFill>
                  <a:schemeClr val="tx1"/>
                </a:solidFill>
                <a:ea typeface="+mn-lt"/>
                <a:cs typeface="+mn-lt"/>
              </a:rPr>
              <a:t> – The study uses descriptive statistics including mean, standard deviation, interquartile range, and comparison to generate conclusions.</a:t>
            </a:r>
            <a:endParaRPr lang="en-IN" sz="1800" dirty="0">
              <a:solidFill>
                <a:schemeClr val="tx1"/>
              </a:solidFill>
            </a:endParaRPr>
          </a:p>
          <a:p>
            <a:pPr marL="457200" lvl="1" indent="0">
              <a:buNone/>
            </a:pPr>
            <a:r>
              <a:rPr lang="en-IN" sz="1800" dirty="0">
                <a:solidFill>
                  <a:schemeClr val="tx1"/>
                </a:solidFill>
                <a:ea typeface="+mn-lt"/>
                <a:cs typeface="+mn-lt"/>
              </a:rPr>
              <a:t>🔄</a:t>
            </a:r>
            <a:r>
              <a:rPr lang="en-IN" sz="1800" b="1" dirty="0">
                <a:solidFill>
                  <a:schemeClr val="tx1"/>
                </a:solidFill>
                <a:ea typeface="+mn-lt"/>
                <a:cs typeface="+mn-lt"/>
              </a:rPr>
              <a:t> Data Analysis Workflow</a:t>
            </a:r>
            <a:endParaRPr lang="en-IN" sz="1800" b="1">
              <a:solidFill>
                <a:schemeClr val="tx1"/>
              </a:solidFill>
            </a:endParaRPr>
          </a:p>
          <a:p>
            <a:pPr lvl="1"/>
            <a:r>
              <a:rPr lang="en-IN" sz="1800" dirty="0">
                <a:solidFill>
                  <a:schemeClr val="tx1"/>
                </a:solidFill>
                <a:ea typeface="+mn-lt"/>
                <a:cs typeface="+mn-lt"/>
              </a:rPr>
              <a:t>Dataset → Data Cleaning → Statistical Analysis → Visualization → Seasonal Comparison → Insights</a:t>
            </a:r>
            <a:endParaRPr lang="en-IN" sz="1800" dirty="0">
              <a:solidFill>
                <a:schemeClr val="tx1"/>
              </a:solidFill>
            </a:endParaRPr>
          </a:p>
          <a:p>
            <a:pPr lvl="1">
              <a:lnSpc>
                <a:spcPct val="150000"/>
              </a:lnSpc>
            </a:pPr>
            <a:endParaRPr lang="en-IN" sz="1800" dirty="0">
              <a:solidFill>
                <a:schemeClr val="tx1"/>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921358" y="315745"/>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animEffect transition="in" filter="fade">
                                      <p:cBhvr>
                                        <p:cTn id="39" dur="1000"/>
                                        <p:tgtEl>
                                          <p:spTgt spid="7">
                                            <p:txEl>
                                              <p:pRg st="6" end="6"/>
                                            </p:txEl>
                                          </p:spTgt>
                                        </p:tgtEl>
                                      </p:cBhvr>
                                    </p:animEffect>
                                    <p:anim calcmode="lin" valueType="num">
                                      <p:cBhvr>
                                        <p:cTn id="4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7" end="7"/>
                                            </p:txEl>
                                          </p:spTgt>
                                        </p:tgtEl>
                                        <p:attrNameLst>
                                          <p:attrName>style.visibility</p:attrName>
                                        </p:attrNameLst>
                                      </p:cBhvr>
                                      <p:to>
                                        <p:strVal val="visible"/>
                                      </p:to>
                                    </p:set>
                                    <p:animEffect transition="in" filter="fade">
                                      <p:cBhvr>
                                        <p:cTn id="44" dur="1000"/>
                                        <p:tgtEl>
                                          <p:spTgt spid="7">
                                            <p:txEl>
                                              <p:pRg st="7" end="7"/>
                                            </p:txEl>
                                          </p:spTgt>
                                        </p:tgtEl>
                                      </p:cBhvr>
                                    </p:animEffect>
                                    <p:anim calcmode="lin" valueType="num">
                                      <p:cBhvr>
                                        <p:cTn id="4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Effect transition="in" filter="fade">
                                      <p:cBhvr>
                                        <p:cTn id="49" dur="1000"/>
                                        <p:tgtEl>
                                          <p:spTgt spid="7">
                                            <p:txEl>
                                              <p:pRg st="8" end="8"/>
                                            </p:txEl>
                                          </p:spTgt>
                                        </p:tgtEl>
                                      </p:cBhvr>
                                    </p:animEffect>
                                    <p:anim calcmode="lin" valueType="num">
                                      <p:cBhvr>
                                        <p:cTn id="5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9" end="9"/>
                                            </p:txEl>
                                          </p:spTgt>
                                        </p:tgtEl>
                                        <p:attrNameLst>
                                          <p:attrName>style.visibility</p:attrName>
                                        </p:attrNameLst>
                                      </p:cBhvr>
                                      <p:to>
                                        <p:strVal val="visible"/>
                                      </p:to>
                                    </p:set>
                                    <p:animEffect transition="in" filter="fade">
                                      <p:cBhvr>
                                        <p:cTn id="54" dur="1000"/>
                                        <p:tgtEl>
                                          <p:spTgt spid="7">
                                            <p:txEl>
                                              <p:pRg st="9" end="9"/>
                                            </p:txEl>
                                          </p:spTgt>
                                        </p:tgtEl>
                                      </p:cBhvr>
                                    </p:animEffect>
                                    <p:anim calcmode="lin" valueType="num">
                                      <p:cBhvr>
                                        <p:cTn id="5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3670574" cy="893627"/>
          </a:xfrm>
        </p:spPr>
        <p:txBody>
          <a:bodyPr>
            <a:normAutofit/>
          </a:bodyPr>
          <a:lstStyle/>
          <a:p>
            <a:r>
              <a:rPr lang="en-GB" dirty="0"/>
              <a:t>RESULTS (1)</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703108" cy="3650780"/>
          </a:xfrm>
        </p:spPr>
        <p:txBody>
          <a:bodyPr vert="horz" lIns="91440" tIns="45720" rIns="91440" bIns="45720" rtlCol="0" anchor="t">
            <a:normAutofit fontScale="25000" lnSpcReduction="20000"/>
          </a:bodyPr>
          <a:lstStyle/>
          <a:p>
            <a:pPr marL="0" indent="0">
              <a:buNone/>
            </a:pPr>
            <a:r>
              <a:rPr lang="en-US" sz="1100" dirty="0">
                <a:solidFill>
                  <a:srgbClr val="000000"/>
                </a:solidFill>
                <a:highlight>
                  <a:srgbClr val="FFFFFF"/>
                </a:highlight>
                <a:ea typeface="+mn-lt"/>
                <a:cs typeface="+mn-lt"/>
              </a:rPr>
              <a:t>#</a:t>
            </a:r>
            <a:r>
              <a:rPr lang="en-US" sz="7200" dirty="0">
                <a:solidFill>
                  <a:srgbClr val="000000"/>
                </a:solidFill>
                <a:highlight>
                  <a:srgbClr val="FFFFFF"/>
                </a:highlight>
                <a:ea typeface="+mn-lt"/>
                <a:cs typeface="+mn-lt"/>
              </a:rPr>
              <a:t> Univariate Analysis: Rainfall Distribution </a:t>
            </a:r>
            <a:br>
              <a:rPr lang="en-US" sz="7200" dirty="0">
                <a:solidFill>
                  <a:srgbClr val="000000"/>
                </a:solidFill>
                <a:highlight>
                  <a:srgbClr val="FFFFFF"/>
                </a:highlight>
                <a:ea typeface="+mn-lt"/>
                <a:cs typeface="+mn-lt"/>
              </a:rPr>
            </a:b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plt.figure</a:t>
            </a:r>
            <a:r>
              <a:rPr lang="en-US" sz="7200" dirty="0">
                <a:solidFill>
                  <a:srgbClr val="000000"/>
                </a:solidFill>
                <a:highlight>
                  <a:srgbClr val="FFFFFF"/>
                </a:highlight>
                <a:ea typeface="+mn-lt"/>
                <a:cs typeface="+mn-lt"/>
              </a:rPr>
              <a:t>(</a:t>
            </a:r>
            <a:r>
              <a:rPr lang="en-US" sz="7200" dirty="0" err="1">
                <a:solidFill>
                  <a:srgbClr val="000000"/>
                </a:solidFill>
                <a:highlight>
                  <a:srgbClr val="FFFFFF"/>
                </a:highlight>
                <a:ea typeface="+mn-lt"/>
                <a:cs typeface="+mn-lt"/>
              </a:rPr>
              <a:t>figsize</a:t>
            </a:r>
            <a:r>
              <a:rPr lang="en-US" sz="7200" dirty="0">
                <a:solidFill>
                  <a:srgbClr val="000000"/>
                </a:solidFill>
                <a:highlight>
                  <a:srgbClr val="FFFFFF"/>
                </a:highlight>
                <a:ea typeface="+mn-lt"/>
                <a:cs typeface="+mn-lt"/>
              </a:rPr>
              <a:t>=(8, 5)) </a:t>
            </a:r>
            <a:br>
              <a:rPr lang="en-US" sz="7200" dirty="0">
                <a:solidFill>
                  <a:srgbClr val="000000"/>
                </a:solidFill>
                <a:highlight>
                  <a:srgbClr val="FFFFFF"/>
                </a:highlight>
                <a:ea typeface="+mn-lt"/>
                <a:cs typeface="+mn-lt"/>
              </a:rPr>
            </a:b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sns.histplot</a:t>
            </a:r>
            <a:r>
              <a:rPr lang="en-US" sz="7200" dirty="0">
                <a:solidFill>
                  <a:srgbClr val="000000"/>
                </a:solidFill>
                <a:highlight>
                  <a:srgbClr val="FFFFFF"/>
                </a:highlight>
                <a:ea typeface="+mn-lt"/>
                <a:cs typeface="+mn-lt"/>
              </a:rPr>
              <a:t>(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df</a:t>
            </a:r>
            <a:r>
              <a:rPr lang="en-US" sz="7200" dirty="0">
                <a:solidFill>
                  <a:srgbClr val="000000"/>
                </a:solidFill>
                <a:highlight>
                  <a:srgbClr val="FFFFFF"/>
                </a:highlight>
                <a:ea typeface="+mn-lt"/>
                <a:cs typeface="+mn-lt"/>
              </a:rPr>
              <a:t>['</a:t>
            </a:r>
            <a:r>
              <a:rPr lang="en-US" sz="7200" dirty="0" err="1">
                <a:solidFill>
                  <a:srgbClr val="000000"/>
                </a:solidFill>
                <a:highlight>
                  <a:srgbClr val="FFFFFF"/>
                </a:highlight>
                <a:ea typeface="+mn-lt"/>
                <a:cs typeface="+mn-lt"/>
              </a:rPr>
              <a:t>Rainfall_mm</a:t>
            </a:r>
            <a:r>
              <a:rPr lang="en-US" sz="7200" dirty="0">
                <a:solidFill>
                  <a:srgbClr val="000000"/>
                </a:solidFill>
                <a:highlight>
                  <a:srgbClr val="FFFFFF"/>
                </a:highlight>
                <a:ea typeface="+mn-lt"/>
                <a:cs typeface="+mn-lt"/>
              </a:rPr>
              <a:t>'], </a:t>
            </a:r>
            <a:br>
              <a:rPr lang="en-US" sz="7200" dirty="0">
                <a:solidFill>
                  <a:srgbClr val="000000"/>
                </a:solidFill>
                <a:highlight>
                  <a:srgbClr val="FFFFFF"/>
                </a:highlight>
                <a:ea typeface="+mn-lt"/>
                <a:cs typeface="+mn-lt"/>
              </a:rPr>
            </a:br>
            <a:r>
              <a:rPr lang="en-US" sz="7200" dirty="0">
                <a:solidFill>
                  <a:srgbClr val="000000"/>
                </a:solidFill>
                <a:highlight>
                  <a:srgbClr val="FFFFFF"/>
                </a:highlight>
                <a:ea typeface="+mn-lt"/>
                <a:cs typeface="+mn-lt"/>
              </a:rPr>
              <a:t>bins=30,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kde</a:t>
            </a:r>
            <a:r>
              <a:rPr lang="en-US" sz="7200" dirty="0">
                <a:solidFill>
                  <a:srgbClr val="000000"/>
                </a:solidFill>
                <a:highlight>
                  <a:srgbClr val="FFFFFF"/>
                </a:highlight>
                <a:ea typeface="+mn-lt"/>
                <a:cs typeface="+mn-lt"/>
              </a:rPr>
              <a:t>=True, </a:t>
            </a:r>
            <a:br>
              <a:rPr lang="en-US" sz="7200" dirty="0">
                <a:solidFill>
                  <a:srgbClr val="000000"/>
                </a:solidFill>
                <a:highlight>
                  <a:srgbClr val="FFFFFF"/>
                </a:highlight>
                <a:ea typeface="+mn-lt"/>
                <a:cs typeface="+mn-lt"/>
              </a:rPr>
            </a:br>
            <a:r>
              <a:rPr lang="en-US" sz="7200" dirty="0">
                <a:solidFill>
                  <a:srgbClr val="000000"/>
                </a:solidFill>
                <a:highlight>
                  <a:srgbClr val="FFFFFF"/>
                </a:highlight>
                <a:ea typeface="+mn-lt"/>
                <a:cs typeface="+mn-lt"/>
              </a:rPr>
              <a:t>color='yellow' </a:t>
            </a:r>
            <a:br>
              <a:rPr lang="en-US" sz="7200" dirty="0">
                <a:solidFill>
                  <a:srgbClr val="000000"/>
                </a:solidFill>
                <a:highlight>
                  <a:srgbClr val="FFFFFF"/>
                </a:highlight>
                <a:ea typeface="+mn-lt"/>
                <a:cs typeface="+mn-lt"/>
              </a:rPr>
            </a:br>
            <a:r>
              <a:rPr lang="en-US" sz="7200" dirty="0">
                <a:solidFill>
                  <a:srgbClr val="000000"/>
                </a:solidFill>
                <a:highlight>
                  <a:srgbClr val="FFFFFF"/>
                </a:highlight>
                <a:ea typeface="+mn-lt"/>
                <a:cs typeface="+mn-lt"/>
              </a:rPr>
              <a:t>) </a:t>
            </a:r>
            <a:br>
              <a:rPr lang="en-US" sz="7200" dirty="0">
                <a:solidFill>
                  <a:srgbClr val="000000"/>
                </a:solidFill>
                <a:highlight>
                  <a:srgbClr val="FFFFFF"/>
                </a:highlight>
                <a:ea typeface="+mn-lt"/>
                <a:cs typeface="+mn-lt"/>
              </a:rPr>
            </a:b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plt.title</a:t>
            </a:r>
            <a:r>
              <a:rPr lang="en-US" sz="7200" dirty="0">
                <a:solidFill>
                  <a:srgbClr val="000000"/>
                </a:solidFill>
                <a:highlight>
                  <a:srgbClr val="FFFFFF"/>
                </a:highlight>
                <a:ea typeface="+mn-lt"/>
                <a:cs typeface="+mn-lt"/>
              </a:rPr>
              <a:t>("Rainfall Distribution")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plt.xlabel</a:t>
            </a:r>
            <a:r>
              <a:rPr lang="en-US" sz="7200" dirty="0">
                <a:solidFill>
                  <a:srgbClr val="000000"/>
                </a:solidFill>
                <a:highlight>
                  <a:srgbClr val="FFFFFF"/>
                </a:highlight>
                <a:ea typeface="+mn-lt"/>
                <a:cs typeface="+mn-lt"/>
              </a:rPr>
              <a:t>("Rainfall (mm)")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plt.ylabel</a:t>
            </a:r>
            <a:r>
              <a:rPr lang="en-US" sz="7200" dirty="0">
                <a:solidFill>
                  <a:srgbClr val="000000"/>
                </a:solidFill>
                <a:highlight>
                  <a:srgbClr val="FFFFFF"/>
                </a:highlight>
                <a:ea typeface="+mn-lt"/>
                <a:cs typeface="+mn-lt"/>
              </a:rPr>
              <a:t>("Frequency")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plt.tight_layout</a:t>
            </a:r>
            <a:r>
              <a:rPr lang="en-US" sz="7200" dirty="0">
                <a:solidFill>
                  <a:srgbClr val="000000"/>
                </a:solidFill>
                <a:highlight>
                  <a:srgbClr val="FFFFFF"/>
                </a:highlight>
                <a:ea typeface="+mn-lt"/>
                <a:cs typeface="+mn-lt"/>
              </a:rPr>
              <a:t>() </a:t>
            </a:r>
            <a:br>
              <a:rPr lang="en-US" sz="7200" dirty="0">
                <a:solidFill>
                  <a:srgbClr val="000000"/>
                </a:solidFill>
                <a:highlight>
                  <a:srgbClr val="FFFFFF"/>
                </a:highlight>
                <a:ea typeface="+mn-lt"/>
                <a:cs typeface="+mn-lt"/>
              </a:rPr>
            </a:br>
            <a:r>
              <a:rPr lang="en-US" sz="7200" dirty="0" err="1">
                <a:solidFill>
                  <a:srgbClr val="000000"/>
                </a:solidFill>
                <a:highlight>
                  <a:srgbClr val="FFFFFF"/>
                </a:highlight>
                <a:ea typeface="+mn-lt"/>
                <a:cs typeface="+mn-lt"/>
              </a:rPr>
              <a:t>plt.show</a:t>
            </a:r>
            <a:r>
              <a:rPr lang="en-US" sz="7200" dirty="0">
                <a:solidFill>
                  <a:srgbClr val="000000"/>
                </a:solidFill>
                <a:highlight>
                  <a:srgbClr val="FFFFFF"/>
                </a:highlight>
                <a:ea typeface="+mn-lt"/>
                <a:cs typeface="+mn-lt"/>
              </a:rPr>
              <a:t>()</a:t>
            </a:r>
          </a:p>
          <a:p>
            <a:pPr>
              <a:buNone/>
            </a:pPr>
            <a:endParaRPr lang="en-US" sz="1100" dirty="0">
              <a:solidFill>
                <a:srgbClr val="000000"/>
              </a:solidFill>
              <a:highlight>
                <a:srgbClr val="FFFFFF"/>
              </a:highlight>
            </a:endParaRPr>
          </a:p>
        </p:txBody>
      </p:sp>
      <p:pic>
        <p:nvPicPr>
          <p:cNvPr id="2" name="Picture 1">
            <a:extLst>
              <a:ext uri="{FF2B5EF4-FFF2-40B4-BE49-F238E27FC236}">
                <a16:creationId xmlns:a16="http://schemas.microsoft.com/office/drawing/2014/main" id="{D43E6A43-E14C-9D4C-B4FB-5ABD00B1DEB3}"/>
              </a:ext>
            </a:extLst>
          </p:cNvPr>
          <p:cNvPicPr>
            <a:picLocks noChangeAspect="1"/>
          </p:cNvPicPr>
          <p:nvPr/>
        </p:nvPicPr>
        <p:blipFill>
          <a:blip r:embed="rId3"/>
          <a:stretch>
            <a:fillRect/>
          </a:stretch>
        </p:blipFill>
        <p:spPr>
          <a:xfrm>
            <a:off x="420665" y="1426661"/>
            <a:ext cx="6016670" cy="4307389"/>
          </a:xfrm>
          <a:prstGeom prst="rect">
            <a:avLst/>
          </a:prstGeom>
        </p:spPr>
      </p:pic>
      <p:sp>
        <p:nvSpPr>
          <p:cNvPr id="9" name="TextBox 8">
            <a:extLst>
              <a:ext uri="{FF2B5EF4-FFF2-40B4-BE49-F238E27FC236}">
                <a16:creationId xmlns:a16="http://schemas.microsoft.com/office/drawing/2014/main" id="{90B6F096-6511-7D7B-F6A2-2BDE78DCC2DE}"/>
              </a:ext>
            </a:extLst>
          </p:cNvPr>
          <p:cNvSpPr txBox="1"/>
          <p:nvPr/>
        </p:nvSpPr>
        <p:spPr>
          <a:xfrm>
            <a:off x="7023650" y="1268774"/>
            <a:ext cx="4491871"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Univariate Analysis: Rainfall Distribution </a:t>
            </a:r>
            <a:br>
              <a:rPr lang="en-US" dirty="0">
                <a:ea typeface="+mn-lt"/>
                <a:cs typeface="+mn-lt"/>
              </a:rPr>
            </a:br>
            <a:br>
              <a:rPr lang="en-US" dirty="0">
                <a:ea typeface="+mn-lt"/>
                <a:cs typeface="+mn-lt"/>
              </a:rPr>
            </a:br>
            <a:r>
              <a:rPr lang="en-US" dirty="0" err="1">
                <a:ea typeface="+mn-lt"/>
                <a:cs typeface="+mn-lt"/>
              </a:rPr>
              <a:t>plt.figure</a:t>
            </a:r>
            <a:r>
              <a:rPr lang="en-US" dirty="0">
                <a:ea typeface="+mn-lt"/>
                <a:cs typeface="+mn-lt"/>
              </a:rPr>
              <a:t>(</a:t>
            </a:r>
            <a:r>
              <a:rPr lang="en-US" dirty="0" err="1">
                <a:ea typeface="+mn-lt"/>
                <a:cs typeface="+mn-lt"/>
              </a:rPr>
              <a:t>figsize</a:t>
            </a:r>
            <a:r>
              <a:rPr lang="en-US" dirty="0">
                <a:ea typeface="+mn-lt"/>
                <a:cs typeface="+mn-lt"/>
              </a:rPr>
              <a:t>=(8, 5)) </a:t>
            </a:r>
            <a:br>
              <a:rPr lang="en-US" dirty="0">
                <a:ea typeface="+mn-lt"/>
                <a:cs typeface="+mn-lt"/>
              </a:rPr>
            </a:br>
            <a:br>
              <a:rPr lang="en-US" dirty="0">
                <a:ea typeface="+mn-lt"/>
                <a:cs typeface="+mn-lt"/>
              </a:rPr>
            </a:br>
            <a:r>
              <a:rPr lang="en-US" dirty="0" err="1">
                <a:ea typeface="+mn-lt"/>
                <a:cs typeface="+mn-lt"/>
              </a:rPr>
              <a:t>sns.histplot</a:t>
            </a:r>
            <a:r>
              <a:rPr lang="en-US" dirty="0">
                <a:ea typeface="+mn-lt"/>
                <a:cs typeface="+mn-lt"/>
              </a:rPr>
              <a:t>( </a:t>
            </a:r>
            <a:r>
              <a:rPr lang="en-US" dirty="0" err="1">
                <a:ea typeface="+mn-lt"/>
                <a:cs typeface="+mn-lt"/>
              </a:rPr>
              <a:t>df</a:t>
            </a:r>
            <a:r>
              <a:rPr lang="en-US" dirty="0">
                <a:ea typeface="+mn-lt"/>
                <a:cs typeface="+mn-lt"/>
              </a:rPr>
              <a:t>['</a:t>
            </a:r>
            <a:r>
              <a:rPr lang="en-US" dirty="0" err="1">
                <a:ea typeface="+mn-lt"/>
                <a:cs typeface="+mn-lt"/>
              </a:rPr>
              <a:t>Rainfall_mm</a:t>
            </a:r>
            <a:r>
              <a:rPr lang="en-US" dirty="0">
                <a:ea typeface="+mn-lt"/>
                <a:cs typeface="+mn-lt"/>
              </a:rPr>
              <a:t>'], bins=30, </a:t>
            </a:r>
            <a:br>
              <a:rPr lang="en-US" dirty="0">
                <a:ea typeface="+mn-lt"/>
                <a:cs typeface="+mn-lt"/>
              </a:rPr>
            </a:br>
            <a:r>
              <a:rPr lang="en-US" dirty="0" err="1">
                <a:ea typeface="+mn-lt"/>
                <a:cs typeface="+mn-lt"/>
              </a:rPr>
              <a:t>kde</a:t>
            </a:r>
            <a:r>
              <a:rPr lang="en-US" dirty="0">
                <a:ea typeface="+mn-lt"/>
                <a:cs typeface="+mn-lt"/>
              </a:rPr>
              <a:t>=True, color='yellow' ) </a:t>
            </a:r>
            <a:br>
              <a:rPr lang="en-US" dirty="0">
                <a:ea typeface="+mn-lt"/>
                <a:cs typeface="+mn-lt"/>
              </a:rPr>
            </a:br>
            <a:br>
              <a:rPr lang="en-US" dirty="0">
                <a:ea typeface="+mn-lt"/>
                <a:cs typeface="+mn-lt"/>
              </a:rPr>
            </a:br>
            <a:r>
              <a:rPr lang="en-US" dirty="0" err="1">
                <a:ea typeface="+mn-lt"/>
                <a:cs typeface="+mn-lt"/>
              </a:rPr>
              <a:t>plt.title</a:t>
            </a:r>
            <a:r>
              <a:rPr lang="en-US" dirty="0">
                <a:ea typeface="+mn-lt"/>
                <a:cs typeface="+mn-lt"/>
              </a:rPr>
              <a:t>("Rainfall Distribution") </a:t>
            </a:r>
            <a:br>
              <a:rPr lang="en-US" dirty="0">
                <a:ea typeface="+mn-lt"/>
                <a:cs typeface="+mn-lt"/>
              </a:rPr>
            </a:br>
            <a:r>
              <a:rPr lang="en-US" dirty="0" err="1">
                <a:ea typeface="+mn-lt"/>
                <a:cs typeface="+mn-lt"/>
              </a:rPr>
              <a:t>plt.xlabel</a:t>
            </a:r>
            <a:r>
              <a:rPr lang="en-US" dirty="0">
                <a:ea typeface="+mn-lt"/>
                <a:cs typeface="+mn-lt"/>
              </a:rPr>
              <a:t>("Rainfall (mm)") </a:t>
            </a:r>
            <a:br>
              <a:rPr lang="en-US" dirty="0">
                <a:ea typeface="+mn-lt"/>
                <a:cs typeface="+mn-lt"/>
              </a:rPr>
            </a:br>
            <a:r>
              <a:rPr lang="en-US" dirty="0" err="1">
                <a:ea typeface="+mn-lt"/>
                <a:cs typeface="+mn-lt"/>
              </a:rPr>
              <a:t>plt.ylabel</a:t>
            </a:r>
            <a:r>
              <a:rPr lang="en-US" dirty="0">
                <a:ea typeface="+mn-lt"/>
                <a:cs typeface="+mn-lt"/>
              </a:rPr>
              <a:t>("Frequency") </a:t>
            </a:r>
            <a:br>
              <a:rPr lang="en-US" dirty="0">
                <a:ea typeface="+mn-lt"/>
                <a:cs typeface="+mn-lt"/>
              </a:rPr>
            </a:br>
            <a:r>
              <a:rPr lang="en-US" dirty="0" err="1">
                <a:ea typeface="+mn-lt"/>
                <a:cs typeface="+mn-lt"/>
              </a:rPr>
              <a:t>plt.tight_layout</a:t>
            </a:r>
            <a:r>
              <a:rPr lang="en-US" dirty="0">
                <a:ea typeface="+mn-lt"/>
                <a:cs typeface="+mn-lt"/>
              </a:rPr>
              <a:t>() </a:t>
            </a:r>
            <a:br>
              <a:rPr lang="en-US" dirty="0">
                <a:ea typeface="+mn-lt"/>
                <a:cs typeface="+mn-lt"/>
              </a:rPr>
            </a:br>
            <a:r>
              <a:rPr lang="en-US" dirty="0" err="1">
                <a:ea typeface="+mn-lt"/>
                <a:cs typeface="+mn-lt"/>
              </a:rPr>
              <a:t>plt.show</a:t>
            </a:r>
            <a:r>
              <a:rPr lang="en-US" dirty="0">
                <a:ea typeface="+mn-lt"/>
                <a:cs typeface="+mn-lt"/>
              </a:rPr>
              <a:t>()</a:t>
            </a:r>
            <a:endParaRPr lang="en-US" dirty="0"/>
          </a:p>
          <a:p>
            <a:pPr algn="l"/>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4411697" cy="830997"/>
          </a:xfrm>
        </p:spPr>
        <p:txBody>
          <a:bodyPr>
            <a:normAutofit/>
          </a:bodyPr>
          <a:lstStyle/>
          <a:p>
            <a:r>
              <a:rPr lang="en-GB" dirty="0"/>
              <a:t>RESULTS (2)</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297740" y="1191611"/>
            <a:ext cx="5872206" cy="5153903"/>
          </a:xfrm>
        </p:spPr>
        <p:txBody>
          <a:bodyPr vert="horz" lIns="91440" tIns="45720" rIns="91440" bIns="45720" rtlCol="0" anchor="t">
            <a:normAutofit fontScale="25000" lnSpcReduction="20000"/>
          </a:bodyPr>
          <a:lstStyle/>
          <a:p>
            <a:pPr>
              <a:buNone/>
            </a:pPr>
            <a:r>
              <a:rPr lang="en-US" sz="7200" dirty="0">
                <a:solidFill>
                  <a:schemeClr val="tx1"/>
                </a:solidFill>
                <a:highlight>
                  <a:srgbClr val="FFFFFF"/>
                </a:highlight>
                <a:ea typeface="+mn-lt"/>
                <a:cs typeface="+mn-lt"/>
              </a:rPr>
              <a:t># Pie Chart: Yield Distribution </a:t>
            </a:r>
            <a:br>
              <a:rPr lang="en-US" dirty="0">
                <a:solidFill>
                  <a:schemeClr val="tx1"/>
                </a:solidFill>
              </a:rPr>
            </a:br>
            <a:br>
              <a:rPr lang="en-US" dirty="0">
                <a:solidFill>
                  <a:schemeClr val="tx1"/>
                </a:solidFill>
              </a:rPr>
            </a:br>
            <a:r>
              <a:rPr lang="en-US" sz="7200" dirty="0" err="1">
                <a:solidFill>
                  <a:schemeClr val="tx1"/>
                </a:solidFill>
                <a:highlight>
                  <a:srgbClr val="FFFFFF"/>
                </a:highlight>
                <a:ea typeface="+mn-lt"/>
                <a:cs typeface="+mn-lt"/>
              </a:rPr>
              <a:t>yield_categories</a:t>
            </a:r>
            <a:r>
              <a:rPr lang="en-US" sz="7200" dirty="0">
                <a:solidFill>
                  <a:schemeClr val="tx1"/>
                </a:solidFill>
                <a:highlight>
                  <a:srgbClr val="FFFFFF"/>
                </a:highlight>
                <a:ea typeface="+mn-lt"/>
                <a:cs typeface="+mn-lt"/>
              </a:rPr>
              <a:t> = </a:t>
            </a:r>
            <a:r>
              <a:rPr lang="en-US" sz="7200" dirty="0" err="1">
                <a:solidFill>
                  <a:schemeClr val="tx1"/>
                </a:solidFill>
                <a:highlight>
                  <a:srgbClr val="FFFFFF"/>
                </a:highlight>
                <a:ea typeface="+mn-lt"/>
                <a:cs typeface="+mn-lt"/>
              </a:rPr>
              <a:t>pd.cut</a:t>
            </a:r>
            <a:r>
              <a:rPr lang="en-US" sz="7200" dirty="0">
                <a:solidFill>
                  <a:schemeClr val="tx1"/>
                </a:solidFill>
                <a:highlight>
                  <a:srgbClr val="FFFFFF"/>
                </a:highlight>
                <a:ea typeface="+mn-lt"/>
                <a:cs typeface="+mn-lt"/>
              </a:rPr>
              <a:t>( </a:t>
            </a:r>
            <a:br>
              <a:rPr lang="en-US" dirty="0">
                <a:solidFill>
                  <a:schemeClr val="tx1"/>
                </a:solidFill>
              </a:rPr>
            </a:br>
            <a:r>
              <a:rPr lang="en-US" sz="7200" dirty="0" err="1">
                <a:solidFill>
                  <a:schemeClr val="tx1"/>
                </a:solidFill>
                <a:highlight>
                  <a:srgbClr val="FFFFFF"/>
                </a:highlight>
                <a:ea typeface="+mn-lt"/>
                <a:cs typeface="+mn-lt"/>
              </a:rPr>
              <a:t>df</a:t>
            </a:r>
            <a:r>
              <a:rPr lang="en-US" sz="7200" dirty="0">
                <a:solidFill>
                  <a:schemeClr val="tx1"/>
                </a:solidFill>
                <a:highlight>
                  <a:srgbClr val="FFFFFF"/>
                </a:highlight>
                <a:ea typeface="+mn-lt"/>
                <a:cs typeface="+mn-lt"/>
              </a:rPr>
              <a:t>['</a:t>
            </a:r>
            <a:r>
              <a:rPr lang="en-US" sz="7200" dirty="0" err="1">
                <a:solidFill>
                  <a:schemeClr val="tx1"/>
                </a:solidFill>
                <a:highlight>
                  <a:srgbClr val="FFFFFF"/>
                </a:highlight>
                <a:ea typeface="+mn-lt"/>
                <a:cs typeface="+mn-lt"/>
              </a:rPr>
              <a:t>Yield_Tonnes_Ha</a:t>
            </a:r>
            <a:r>
              <a:rPr lang="en-US" sz="7200" dirty="0">
                <a:solidFill>
                  <a:schemeClr val="tx1"/>
                </a:solidFill>
                <a:highlight>
                  <a:srgbClr val="FFFFFF"/>
                </a:highlight>
                <a:ea typeface="+mn-lt"/>
                <a:cs typeface="+mn-lt"/>
              </a:rPr>
              <a:t>'], </a:t>
            </a:r>
            <a:br>
              <a:rPr lang="en-US" dirty="0">
                <a:solidFill>
                  <a:schemeClr val="tx1"/>
                </a:solidFill>
              </a:rPr>
            </a:br>
            <a:r>
              <a:rPr lang="en-US" sz="7200" dirty="0">
                <a:solidFill>
                  <a:schemeClr val="tx1"/>
                </a:solidFill>
                <a:highlight>
                  <a:srgbClr val="FFFFFF"/>
                </a:highlight>
                <a:ea typeface="+mn-lt"/>
                <a:cs typeface="+mn-lt"/>
              </a:rPr>
              <a:t>bins=[-np.inf, 2, 5, np.inf], </a:t>
            </a:r>
            <a:br>
              <a:rPr lang="en-US" dirty="0">
                <a:solidFill>
                  <a:schemeClr val="tx1"/>
                </a:solidFill>
              </a:rPr>
            </a:br>
            <a:r>
              <a:rPr lang="en-US" sz="7200" dirty="0">
                <a:solidFill>
                  <a:schemeClr val="tx1"/>
                </a:solidFill>
                <a:highlight>
                  <a:srgbClr val="FFFFFF"/>
                </a:highlight>
                <a:ea typeface="+mn-lt"/>
                <a:cs typeface="+mn-lt"/>
              </a:rPr>
              <a:t>labels=['Low Yield', 'Medium Yield', 'High Yield'] </a:t>
            </a:r>
            <a:br>
              <a:rPr lang="en-US" dirty="0">
                <a:solidFill>
                  <a:schemeClr val="tx1"/>
                </a:solidFill>
              </a:rPr>
            </a:br>
            <a:r>
              <a:rPr lang="en-US" sz="7200" dirty="0">
                <a:solidFill>
                  <a:schemeClr val="tx1"/>
                </a:solidFill>
                <a:highlight>
                  <a:srgbClr val="FFFFFF"/>
                </a:highlight>
                <a:ea typeface="+mn-lt"/>
                <a:cs typeface="+mn-lt"/>
              </a:rPr>
              <a:t>) </a:t>
            </a:r>
            <a:br>
              <a:rPr lang="en-US" dirty="0">
                <a:solidFill>
                  <a:schemeClr val="tx1"/>
                </a:solidFill>
              </a:rPr>
            </a:br>
            <a:br>
              <a:rPr lang="en-US" dirty="0">
                <a:solidFill>
                  <a:schemeClr val="tx1"/>
                </a:solidFill>
              </a:rPr>
            </a:br>
            <a:r>
              <a:rPr lang="en-US" sz="7200" dirty="0" err="1">
                <a:solidFill>
                  <a:schemeClr val="tx1"/>
                </a:solidFill>
                <a:highlight>
                  <a:srgbClr val="FFFFFF"/>
                </a:highlight>
                <a:ea typeface="+mn-lt"/>
                <a:cs typeface="+mn-lt"/>
              </a:rPr>
              <a:t>yield_distribution</a:t>
            </a:r>
            <a:r>
              <a:rPr lang="en-US" sz="7200" dirty="0">
                <a:solidFill>
                  <a:schemeClr val="tx1"/>
                </a:solidFill>
                <a:highlight>
                  <a:srgbClr val="FFFFFF"/>
                </a:highlight>
                <a:ea typeface="+mn-lt"/>
                <a:cs typeface="+mn-lt"/>
              </a:rPr>
              <a:t> = </a:t>
            </a:r>
            <a:r>
              <a:rPr lang="en-US" sz="7200" dirty="0" err="1">
                <a:solidFill>
                  <a:schemeClr val="tx1"/>
                </a:solidFill>
                <a:highlight>
                  <a:srgbClr val="FFFFFF"/>
                </a:highlight>
                <a:ea typeface="+mn-lt"/>
                <a:cs typeface="+mn-lt"/>
              </a:rPr>
              <a:t>yield_categories.value_counts</a:t>
            </a:r>
            <a:r>
              <a:rPr lang="en-US" sz="7200" dirty="0">
                <a:solidFill>
                  <a:schemeClr val="tx1"/>
                </a:solidFill>
                <a:highlight>
                  <a:srgbClr val="FFFFFF"/>
                </a:highlight>
                <a:ea typeface="+mn-lt"/>
                <a:cs typeface="+mn-lt"/>
              </a:rPr>
              <a:t>() </a:t>
            </a:r>
            <a:br>
              <a:rPr lang="en-US" dirty="0">
                <a:solidFill>
                  <a:schemeClr val="tx1"/>
                </a:solidFill>
              </a:rPr>
            </a:br>
            <a:br>
              <a:rPr lang="en-US" dirty="0">
                <a:solidFill>
                  <a:schemeClr val="tx1"/>
                </a:solidFill>
              </a:rPr>
            </a:br>
            <a:r>
              <a:rPr lang="en-US" sz="7200" dirty="0" err="1">
                <a:solidFill>
                  <a:schemeClr val="tx1"/>
                </a:solidFill>
                <a:highlight>
                  <a:srgbClr val="FFFFFF"/>
                </a:highlight>
                <a:ea typeface="+mn-lt"/>
                <a:cs typeface="+mn-lt"/>
              </a:rPr>
              <a:t>plt.figure</a:t>
            </a:r>
            <a:r>
              <a:rPr lang="en-US" sz="7200" dirty="0">
                <a:solidFill>
                  <a:schemeClr val="tx1"/>
                </a:solidFill>
                <a:highlight>
                  <a:srgbClr val="FFFFFF"/>
                </a:highlight>
                <a:ea typeface="+mn-lt"/>
                <a:cs typeface="+mn-lt"/>
              </a:rPr>
              <a:t>(</a:t>
            </a:r>
            <a:r>
              <a:rPr lang="en-US" sz="7200" dirty="0" err="1">
                <a:solidFill>
                  <a:schemeClr val="tx1"/>
                </a:solidFill>
                <a:highlight>
                  <a:srgbClr val="FFFFFF"/>
                </a:highlight>
                <a:ea typeface="+mn-lt"/>
                <a:cs typeface="+mn-lt"/>
              </a:rPr>
              <a:t>figsize</a:t>
            </a:r>
            <a:r>
              <a:rPr lang="en-US" sz="7200" dirty="0">
                <a:solidFill>
                  <a:schemeClr val="tx1"/>
                </a:solidFill>
                <a:highlight>
                  <a:srgbClr val="FFFFFF"/>
                </a:highlight>
                <a:ea typeface="+mn-lt"/>
                <a:cs typeface="+mn-lt"/>
              </a:rPr>
              <a:t>=(7, 7)) </a:t>
            </a:r>
            <a:br>
              <a:rPr lang="en-US" dirty="0">
                <a:solidFill>
                  <a:schemeClr val="tx1"/>
                </a:solidFill>
              </a:rPr>
            </a:br>
            <a:br>
              <a:rPr lang="en-US" dirty="0">
                <a:solidFill>
                  <a:schemeClr val="tx1"/>
                </a:solidFill>
              </a:rPr>
            </a:br>
            <a:r>
              <a:rPr lang="en-US" sz="7200" dirty="0" err="1">
                <a:solidFill>
                  <a:schemeClr val="tx1"/>
                </a:solidFill>
                <a:highlight>
                  <a:srgbClr val="FFFFFF"/>
                </a:highlight>
                <a:ea typeface="+mn-lt"/>
                <a:cs typeface="+mn-lt"/>
              </a:rPr>
              <a:t>plt.pie</a:t>
            </a:r>
            <a:r>
              <a:rPr lang="en-US" sz="7200" dirty="0">
                <a:solidFill>
                  <a:schemeClr val="tx1"/>
                </a:solidFill>
                <a:highlight>
                  <a:srgbClr val="FFFFFF"/>
                </a:highlight>
                <a:ea typeface="+mn-lt"/>
                <a:cs typeface="+mn-lt"/>
              </a:rPr>
              <a:t>( </a:t>
            </a:r>
            <a:br>
              <a:rPr lang="en-US" dirty="0">
                <a:solidFill>
                  <a:schemeClr val="tx1"/>
                </a:solidFill>
              </a:rPr>
            </a:br>
            <a:r>
              <a:rPr lang="en-US" sz="7200" dirty="0" err="1">
                <a:solidFill>
                  <a:schemeClr val="tx1"/>
                </a:solidFill>
                <a:highlight>
                  <a:srgbClr val="FFFFFF"/>
                </a:highlight>
                <a:ea typeface="+mn-lt"/>
                <a:cs typeface="+mn-lt"/>
              </a:rPr>
              <a:t>yield_distribution.values</a:t>
            </a:r>
            <a:r>
              <a:rPr lang="en-US" sz="7200" dirty="0">
                <a:solidFill>
                  <a:schemeClr val="tx1"/>
                </a:solidFill>
                <a:highlight>
                  <a:srgbClr val="FFFFFF"/>
                </a:highlight>
                <a:ea typeface="+mn-lt"/>
                <a:cs typeface="+mn-lt"/>
              </a:rPr>
              <a:t>, </a:t>
            </a:r>
            <a:br>
              <a:rPr lang="en-US" dirty="0">
                <a:solidFill>
                  <a:schemeClr val="tx1"/>
                </a:solidFill>
              </a:rPr>
            </a:br>
            <a:r>
              <a:rPr lang="en-US" sz="7200" dirty="0">
                <a:solidFill>
                  <a:schemeClr val="tx1"/>
                </a:solidFill>
                <a:highlight>
                  <a:srgbClr val="FFFFFF"/>
                </a:highlight>
                <a:ea typeface="+mn-lt"/>
                <a:cs typeface="+mn-lt"/>
              </a:rPr>
              <a:t>labels=</a:t>
            </a:r>
            <a:r>
              <a:rPr lang="en-US" sz="7200" dirty="0" err="1">
                <a:solidFill>
                  <a:schemeClr val="tx1"/>
                </a:solidFill>
                <a:highlight>
                  <a:srgbClr val="FFFFFF"/>
                </a:highlight>
                <a:ea typeface="+mn-lt"/>
                <a:cs typeface="+mn-lt"/>
              </a:rPr>
              <a:t>yield_distribution.index</a:t>
            </a:r>
            <a:r>
              <a:rPr lang="en-US" sz="7200" dirty="0">
                <a:solidFill>
                  <a:schemeClr val="tx1"/>
                </a:solidFill>
                <a:highlight>
                  <a:srgbClr val="FFFFFF"/>
                </a:highlight>
                <a:ea typeface="+mn-lt"/>
                <a:cs typeface="+mn-lt"/>
              </a:rPr>
              <a:t>, </a:t>
            </a:r>
            <a:br>
              <a:rPr lang="en-US" dirty="0">
                <a:solidFill>
                  <a:schemeClr val="tx1"/>
                </a:solidFill>
              </a:rPr>
            </a:br>
            <a:r>
              <a:rPr lang="en-US" sz="7200" dirty="0" err="1">
                <a:solidFill>
                  <a:schemeClr val="tx1"/>
                </a:solidFill>
                <a:highlight>
                  <a:srgbClr val="FFFFFF"/>
                </a:highlight>
                <a:ea typeface="+mn-lt"/>
                <a:cs typeface="+mn-lt"/>
              </a:rPr>
              <a:t>autopct</a:t>
            </a:r>
            <a:r>
              <a:rPr lang="en-US" sz="7200" dirty="0">
                <a:solidFill>
                  <a:schemeClr val="tx1"/>
                </a:solidFill>
                <a:highlight>
                  <a:srgbClr val="FFFFFF"/>
                </a:highlight>
                <a:ea typeface="+mn-lt"/>
                <a:cs typeface="+mn-lt"/>
              </a:rPr>
              <a:t>='%1.1f%%', </a:t>
            </a:r>
            <a:br>
              <a:rPr lang="en-US" dirty="0">
                <a:solidFill>
                  <a:schemeClr val="tx1"/>
                </a:solidFill>
              </a:rPr>
            </a:br>
            <a:r>
              <a:rPr lang="en-US" sz="7200" dirty="0" err="1">
                <a:solidFill>
                  <a:schemeClr val="tx1"/>
                </a:solidFill>
                <a:highlight>
                  <a:srgbClr val="FFFFFF"/>
                </a:highlight>
                <a:ea typeface="+mn-lt"/>
                <a:cs typeface="+mn-lt"/>
              </a:rPr>
              <a:t>startangle</a:t>
            </a:r>
            <a:r>
              <a:rPr lang="en-US" sz="7200" dirty="0">
                <a:solidFill>
                  <a:schemeClr val="tx1"/>
                </a:solidFill>
                <a:highlight>
                  <a:srgbClr val="FFFFFF"/>
                </a:highlight>
                <a:ea typeface="+mn-lt"/>
                <a:cs typeface="+mn-lt"/>
              </a:rPr>
              <a:t>=90, </a:t>
            </a:r>
            <a:br>
              <a:rPr lang="en-US" dirty="0">
                <a:solidFill>
                  <a:schemeClr val="tx1"/>
                </a:solidFill>
              </a:rPr>
            </a:br>
            <a:r>
              <a:rPr lang="en-US" sz="7200" dirty="0">
                <a:solidFill>
                  <a:schemeClr val="tx1"/>
                </a:solidFill>
                <a:highlight>
                  <a:srgbClr val="FFFFFF"/>
                </a:highlight>
                <a:ea typeface="+mn-lt"/>
                <a:cs typeface="+mn-lt"/>
              </a:rPr>
              <a:t>colors=['</a:t>
            </a:r>
            <a:r>
              <a:rPr lang="en-US" sz="7200" dirty="0" err="1">
                <a:solidFill>
                  <a:schemeClr val="tx1"/>
                </a:solidFill>
                <a:highlight>
                  <a:srgbClr val="FFFFFF"/>
                </a:highlight>
                <a:ea typeface="+mn-lt"/>
                <a:cs typeface="+mn-lt"/>
              </a:rPr>
              <a:t>lightcoral</a:t>
            </a:r>
            <a:r>
              <a:rPr lang="en-US" sz="7200" dirty="0">
                <a:solidFill>
                  <a:schemeClr val="tx1"/>
                </a:solidFill>
                <a:highlight>
                  <a:srgbClr val="FFFFFF"/>
                </a:highlight>
                <a:ea typeface="+mn-lt"/>
                <a:cs typeface="+mn-lt"/>
              </a:rPr>
              <a:t>', 'gold', '</a:t>
            </a:r>
            <a:r>
              <a:rPr lang="en-US" sz="7200" dirty="0" err="1">
                <a:solidFill>
                  <a:schemeClr val="tx1"/>
                </a:solidFill>
                <a:highlight>
                  <a:srgbClr val="FFFFFF"/>
                </a:highlight>
                <a:ea typeface="+mn-lt"/>
                <a:cs typeface="+mn-lt"/>
              </a:rPr>
              <a:t>lightgreen</a:t>
            </a:r>
            <a:r>
              <a:rPr lang="en-US" sz="7200" dirty="0">
                <a:solidFill>
                  <a:schemeClr val="tx1"/>
                </a:solidFill>
                <a:highlight>
                  <a:srgbClr val="FFFFFF"/>
                </a:highlight>
                <a:ea typeface="+mn-lt"/>
                <a:cs typeface="+mn-lt"/>
              </a:rPr>
              <a:t>'] </a:t>
            </a:r>
            <a:br>
              <a:rPr lang="en-US" dirty="0">
                <a:solidFill>
                  <a:schemeClr val="tx1"/>
                </a:solidFill>
              </a:rPr>
            </a:br>
            <a:r>
              <a:rPr lang="en-US" sz="7200" dirty="0">
                <a:solidFill>
                  <a:schemeClr val="tx1"/>
                </a:solidFill>
                <a:highlight>
                  <a:srgbClr val="FFFFFF"/>
                </a:highlight>
                <a:ea typeface="+mn-lt"/>
                <a:cs typeface="+mn-lt"/>
              </a:rPr>
              <a:t>) </a:t>
            </a:r>
            <a:br>
              <a:rPr lang="en-US" dirty="0">
                <a:solidFill>
                  <a:schemeClr val="tx1"/>
                </a:solidFill>
              </a:rPr>
            </a:br>
            <a:br>
              <a:rPr lang="en-US" dirty="0">
                <a:solidFill>
                  <a:schemeClr val="tx1"/>
                </a:solidFill>
              </a:rPr>
            </a:br>
            <a:r>
              <a:rPr lang="en-US" sz="7200" dirty="0" err="1">
                <a:solidFill>
                  <a:schemeClr val="tx1"/>
                </a:solidFill>
                <a:highlight>
                  <a:srgbClr val="FFFFFF"/>
                </a:highlight>
                <a:ea typeface="+mn-lt"/>
                <a:cs typeface="+mn-lt"/>
              </a:rPr>
              <a:t>plt.title</a:t>
            </a:r>
            <a:r>
              <a:rPr lang="en-US" sz="7200" dirty="0">
                <a:solidFill>
                  <a:schemeClr val="tx1"/>
                </a:solidFill>
                <a:highlight>
                  <a:srgbClr val="FFFFFF"/>
                </a:highlight>
                <a:ea typeface="+mn-lt"/>
                <a:cs typeface="+mn-lt"/>
              </a:rPr>
              <a:t>("Yield Distribution") </a:t>
            </a:r>
            <a:br>
              <a:rPr lang="en-US" dirty="0">
                <a:solidFill>
                  <a:schemeClr val="tx1"/>
                </a:solidFill>
              </a:rPr>
            </a:br>
            <a:r>
              <a:rPr lang="en-US" sz="7200" dirty="0" err="1">
                <a:solidFill>
                  <a:schemeClr val="tx1"/>
                </a:solidFill>
                <a:highlight>
                  <a:srgbClr val="FFFFFF"/>
                </a:highlight>
                <a:ea typeface="+mn-lt"/>
                <a:cs typeface="+mn-lt"/>
              </a:rPr>
              <a:t>plt.show</a:t>
            </a:r>
            <a:r>
              <a:rPr lang="en-US" sz="7200" dirty="0">
                <a:solidFill>
                  <a:schemeClr val="tx1"/>
                </a:solidFill>
                <a:highlight>
                  <a:srgbClr val="FFFFFF"/>
                </a:highlight>
                <a:ea typeface="+mn-lt"/>
                <a:cs typeface="+mn-lt"/>
              </a:rPr>
              <a:t>()</a:t>
            </a:r>
            <a:endParaRPr lang="en-US" dirty="0">
              <a:solidFill>
                <a:schemeClr val="tx1"/>
              </a:solidFill>
            </a:endParaRPr>
          </a:p>
          <a:p>
            <a:pPr>
              <a:buNone/>
            </a:pPr>
            <a:endParaRPr lang="en-US" sz="7200" dirty="0">
              <a:solidFill>
                <a:srgbClr val="008000"/>
              </a:solidFill>
              <a:highlight>
                <a:srgbClr val="FFFFFF"/>
              </a:highlight>
            </a:endParaRPr>
          </a:p>
        </p:txBody>
      </p:sp>
      <p:pic>
        <p:nvPicPr>
          <p:cNvPr id="2" name="Picture 1">
            <a:extLst>
              <a:ext uri="{FF2B5EF4-FFF2-40B4-BE49-F238E27FC236}">
                <a16:creationId xmlns:a16="http://schemas.microsoft.com/office/drawing/2014/main" id="{FF587506-AAEC-A0A2-751F-B59C420AA128}"/>
              </a:ext>
            </a:extLst>
          </p:cNvPr>
          <p:cNvPicPr>
            <a:picLocks noChangeAspect="1"/>
          </p:cNvPicPr>
          <p:nvPr/>
        </p:nvPicPr>
        <p:blipFill>
          <a:blip r:embed="rId3"/>
          <a:srcRect r="165" b="6981"/>
          <a:stretch>
            <a:fillRect/>
          </a:stretch>
        </p:blipFill>
        <p:spPr>
          <a:xfrm>
            <a:off x="-391" y="1194344"/>
            <a:ext cx="6295134" cy="514769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45329"/>
            <a:ext cx="3764519" cy="830997"/>
          </a:xfrm>
        </p:spPr>
        <p:txBody>
          <a:bodyPr>
            <a:normAutofit fontScale="90000"/>
          </a:bodyPr>
          <a:lstStyle/>
          <a:p>
            <a:r>
              <a:rPr lang="en-GB" dirty="0"/>
              <a:t>RESULTS (3)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809220" y="1473447"/>
            <a:ext cx="5840889" cy="4360587"/>
          </a:xfrm>
        </p:spPr>
        <p:txBody>
          <a:bodyPr vert="horz" lIns="91440" tIns="45720" rIns="91440" bIns="45720" rtlCol="0" anchor="t">
            <a:noAutofit/>
          </a:bodyPr>
          <a:lstStyle/>
          <a:p>
            <a:pPr>
              <a:buNone/>
            </a:pPr>
            <a:r>
              <a:rPr lang="en-US" sz="1800" dirty="0">
                <a:ea typeface="+mn-lt"/>
                <a:cs typeface="+mn-lt"/>
              </a:rPr>
              <a:t> Bivariate Analysis: Rainfall vs Yield - Scatter Plot </a:t>
            </a:r>
            <a:br>
              <a:rPr lang="en-US" sz="1800" dirty="0">
                <a:ea typeface="+mn-lt"/>
                <a:cs typeface="+mn-lt"/>
              </a:rPr>
            </a:br>
            <a:br>
              <a:rPr lang="en-US" sz="1800" dirty="0">
                <a:ea typeface="+mn-lt"/>
                <a:cs typeface="+mn-lt"/>
              </a:rPr>
            </a:br>
            <a:r>
              <a:rPr lang="en-US" sz="1800" dirty="0" err="1">
                <a:ea typeface="+mn-lt"/>
                <a:cs typeface="+mn-lt"/>
              </a:rPr>
              <a:t>plt.figure</a:t>
            </a:r>
            <a:r>
              <a:rPr lang="en-US" sz="1800" dirty="0">
                <a:ea typeface="+mn-lt"/>
                <a:cs typeface="+mn-lt"/>
              </a:rPr>
              <a:t>(</a:t>
            </a:r>
            <a:r>
              <a:rPr lang="en-US" sz="1800" dirty="0" err="1">
                <a:ea typeface="+mn-lt"/>
                <a:cs typeface="+mn-lt"/>
              </a:rPr>
              <a:t>figsize</a:t>
            </a:r>
            <a:r>
              <a:rPr lang="en-US" sz="1800" dirty="0">
                <a:ea typeface="+mn-lt"/>
                <a:cs typeface="+mn-lt"/>
              </a:rPr>
              <a:t>=(10, 6)) </a:t>
            </a:r>
            <a:br>
              <a:rPr lang="en-US" sz="1800" dirty="0">
                <a:ea typeface="+mn-lt"/>
                <a:cs typeface="+mn-lt"/>
              </a:rPr>
            </a:br>
            <a:br>
              <a:rPr lang="en-US" sz="1800" dirty="0">
                <a:ea typeface="+mn-lt"/>
                <a:cs typeface="+mn-lt"/>
              </a:rPr>
            </a:br>
            <a:r>
              <a:rPr lang="en-US" sz="1800" dirty="0" err="1">
                <a:ea typeface="+mn-lt"/>
                <a:cs typeface="+mn-lt"/>
              </a:rPr>
              <a:t>sns.scatterplot</a:t>
            </a:r>
            <a:r>
              <a:rPr lang="en-US" sz="1800" dirty="0">
                <a:ea typeface="+mn-lt"/>
                <a:cs typeface="+mn-lt"/>
              </a:rPr>
              <a:t>( x='</a:t>
            </a:r>
            <a:r>
              <a:rPr lang="en-US" sz="1800" dirty="0" err="1">
                <a:ea typeface="+mn-lt"/>
                <a:cs typeface="+mn-lt"/>
              </a:rPr>
              <a:t>Rainfall_mm</a:t>
            </a:r>
            <a:r>
              <a:rPr lang="en-US" sz="1800" dirty="0">
                <a:ea typeface="+mn-lt"/>
                <a:cs typeface="+mn-lt"/>
              </a:rPr>
              <a:t>', y='</a:t>
            </a:r>
            <a:r>
              <a:rPr lang="en-US" sz="1800" dirty="0" err="1">
                <a:ea typeface="+mn-lt"/>
                <a:cs typeface="+mn-lt"/>
              </a:rPr>
              <a:t>Yield_Tonnes_Ha</a:t>
            </a:r>
            <a:r>
              <a:rPr lang="en-US" sz="1800" dirty="0">
                <a:ea typeface="+mn-lt"/>
                <a:cs typeface="+mn-lt"/>
              </a:rPr>
              <a:t>', </a:t>
            </a:r>
            <a:br>
              <a:rPr lang="en-US" sz="1800" dirty="0">
                <a:ea typeface="+mn-lt"/>
                <a:cs typeface="+mn-lt"/>
              </a:rPr>
            </a:br>
            <a:r>
              <a:rPr lang="en-US" sz="1800" dirty="0">
                <a:ea typeface="+mn-lt"/>
                <a:cs typeface="+mn-lt"/>
              </a:rPr>
              <a:t>data=</a:t>
            </a:r>
            <a:r>
              <a:rPr lang="en-US" sz="1800" dirty="0" err="1">
                <a:ea typeface="+mn-lt"/>
                <a:cs typeface="+mn-lt"/>
              </a:rPr>
              <a:t>df</a:t>
            </a:r>
            <a:r>
              <a:rPr lang="en-US" sz="1800" dirty="0">
                <a:ea typeface="+mn-lt"/>
                <a:cs typeface="+mn-lt"/>
              </a:rPr>
              <a:t> ) </a:t>
            </a:r>
            <a:br>
              <a:rPr lang="en-US" sz="1800" dirty="0">
                <a:ea typeface="+mn-lt"/>
                <a:cs typeface="+mn-lt"/>
              </a:rPr>
            </a:br>
            <a:br>
              <a:rPr lang="en-US" sz="1800" dirty="0">
                <a:ea typeface="+mn-lt"/>
                <a:cs typeface="+mn-lt"/>
              </a:rPr>
            </a:br>
            <a:r>
              <a:rPr lang="en-US" sz="1800" dirty="0" err="1">
                <a:ea typeface="+mn-lt"/>
                <a:cs typeface="+mn-lt"/>
              </a:rPr>
              <a:t>plt.title</a:t>
            </a:r>
            <a:r>
              <a:rPr lang="en-US" sz="1800" dirty="0">
                <a:ea typeface="+mn-lt"/>
                <a:cs typeface="+mn-lt"/>
              </a:rPr>
              <a:t>("Rainfall vs Yield") </a:t>
            </a:r>
            <a:br>
              <a:rPr lang="en-US" sz="1800" dirty="0">
                <a:ea typeface="+mn-lt"/>
                <a:cs typeface="+mn-lt"/>
              </a:rPr>
            </a:br>
            <a:r>
              <a:rPr lang="en-US" sz="1800" dirty="0" err="1">
                <a:ea typeface="+mn-lt"/>
                <a:cs typeface="+mn-lt"/>
              </a:rPr>
              <a:t>plt.xlabel</a:t>
            </a:r>
            <a:r>
              <a:rPr lang="en-US" sz="1800" dirty="0">
                <a:ea typeface="+mn-lt"/>
                <a:cs typeface="+mn-lt"/>
              </a:rPr>
              <a:t>("Rainfall (mm)") </a:t>
            </a:r>
            <a:br>
              <a:rPr lang="en-US" sz="1800" dirty="0">
                <a:ea typeface="+mn-lt"/>
                <a:cs typeface="+mn-lt"/>
              </a:rPr>
            </a:br>
            <a:r>
              <a:rPr lang="en-US" sz="1800" dirty="0" err="1">
                <a:ea typeface="+mn-lt"/>
                <a:cs typeface="+mn-lt"/>
              </a:rPr>
              <a:t>plt.ylabel</a:t>
            </a:r>
            <a:r>
              <a:rPr lang="en-US" sz="1800" dirty="0">
                <a:ea typeface="+mn-lt"/>
                <a:cs typeface="+mn-lt"/>
              </a:rPr>
              <a:t>("Yield (</a:t>
            </a:r>
            <a:r>
              <a:rPr lang="en-US" sz="1800" dirty="0" err="1">
                <a:ea typeface="+mn-lt"/>
                <a:cs typeface="+mn-lt"/>
              </a:rPr>
              <a:t>Tonnes</a:t>
            </a:r>
            <a:r>
              <a:rPr lang="en-US" sz="1800" dirty="0">
                <a:ea typeface="+mn-lt"/>
                <a:cs typeface="+mn-lt"/>
              </a:rPr>
              <a:t>/Ha)") </a:t>
            </a:r>
            <a:br>
              <a:rPr lang="en-US" sz="1800" dirty="0">
                <a:ea typeface="+mn-lt"/>
                <a:cs typeface="+mn-lt"/>
              </a:rPr>
            </a:br>
            <a:r>
              <a:rPr lang="en-US" sz="1800" dirty="0" err="1">
                <a:ea typeface="+mn-lt"/>
                <a:cs typeface="+mn-lt"/>
              </a:rPr>
              <a:t>plt.tight_layout</a:t>
            </a:r>
            <a:r>
              <a:rPr lang="en-US" sz="1800" dirty="0">
                <a:ea typeface="+mn-lt"/>
                <a:cs typeface="+mn-lt"/>
              </a:rPr>
              <a:t>() </a:t>
            </a:r>
            <a:br>
              <a:rPr lang="en-US" sz="1800" dirty="0">
                <a:ea typeface="+mn-lt"/>
                <a:cs typeface="+mn-lt"/>
              </a:rPr>
            </a:br>
            <a:r>
              <a:rPr lang="en-US" sz="1800" dirty="0" err="1">
                <a:ea typeface="+mn-lt"/>
                <a:cs typeface="+mn-lt"/>
              </a:rPr>
              <a:t>plt.show</a:t>
            </a:r>
            <a:r>
              <a:rPr lang="en-US" sz="1800" dirty="0">
                <a:ea typeface="+mn-lt"/>
                <a:cs typeface="+mn-lt"/>
              </a:rPr>
              <a:t>()</a:t>
            </a:r>
            <a:endParaRPr lang="en-US" sz="1800" dirty="0"/>
          </a:p>
          <a:p>
            <a:pPr marL="0" indent="0">
              <a:buNone/>
            </a:pPr>
            <a:endParaRPr lang="en-US" sz="1800" dirty="0"/>
          </a:p>
        </p:txBody>
      </p:sp>
      <p:pic>
        <p:nvPicPr>
          <p:cNvPr id="2" name="Picture 1">
            <a:extLst>
              <a:ext uri="{FF2B5EF4-FFF2-40B4-BE49-F238E27FC236}">
                <a16:creationId xmlns:a16="http://schemas.microsoft.com/office/drawing/2014/main" id="{2533BCA0-E1B9-D4D0-57FB-048F6C884C92}"/>
              </a:ext>
            </a:extLst>
          </p:cNvPr>
          <p:cNvPicPr>
            <a:picLocks noChangeAspect="1"/>
          </p:cNvPicPr>
          <p:nvPr/>
        </p:nvPicPr>
        <p:blipFill>
          <a:blip r:embed="rId3"/>
          <a:stretch>
            <a:fillRect/>
          </a:stretch>
        </p:blipFill>
        <p:spPr>
          <a:xfrm>
            <a:off x="136222" y="1274002"/>
            <a:ext cx="6669065" cy="476928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3827149" cy="830997"/>
          </a:xfrm>
        </p:spPr>
        <p:txBody>
          <a:bodyPr>
            <a:normAutofit/>
          </a:bodyPr>
          <a:lstStyle/>
          <a:p>
            <a:r>
              <a:rPr lang="en-GB" dirty="0"/>
              <a:t>RESULTS (4)</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913603" y="1191610"/>
            <a:ext cx="4650918" cy="5654945"/>
          </a:xfrm>
        </p:spPr>
        <p:txBody>
          <a:bodyPr vert="horz" lIns="91440" tIns="45720" rIns="91440" bIns="45720" rtlCol="0" anchor="t">
            <a:noAutofit/>
          </a:bodyPr>
          <a:lstStyle/>
          <a:p>
            <a:pPr>
              <a:buNone/>
            </a:pPr>
            <a:r>
              <a:rPr lang="en-US" sz="1800" dirty="0">
                <a:solidFill>
                  <a:schemeClr val="tx1"/>
                </a:solidFill>
                <a:highlight>
                  <a:srgbClr val="FFFFFF"/>
                </a:highlight>
                <a:latin typeface="Times New Roman"/>
                <a:ea typeface="+mn-lt"/>
                <a:cs typeface="Times New Roman"/>
              </a:rPr>
              <a:t># Multivariate Analysis: Season, Irrigation Method and Yield - Box Plot </a:t>
            </a:r>
            <a:br>
              <a:rPr lang="en-US" sz="1800" dirty="0">
                <a:highlight>
                  <a:srgbClr val="FFFFFF"/>
                </a:highlight>
                <a:latin typeface="Times New Roman"/>
                <a:ea typeface="+mn-lt"/>
                <a:cs typeface="Times New Roman"/>
              </a:rPr>
            </a:b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plt.figure</a:t>
            </a:r>
            <a:r>
              <a:rPr lang="en-US" sz="1800" dirty="0">
                <a:solidFill>
                  <a:schemeClr val="tx1"/>
                </a:solidFill>
                <a:highlight>
                  <a:srgbClr val="FFFFFF"/>
                </a:highlight>
                <a:latin typeface="Times New Roman"/>
                <a:ea typeface="+mn-lt"/>
                <a:cs typeface="Times New Roman"/>
              </a:rPr>
              <a:t>(</a:t>
            </a:r>
            <a:r>
              <a:rPr lang="en-US" sz="1800" dirty="0" err="1">
                <a:solidFill>
                  <a:schemeClr val="tx1"/>
                </a:solidFill>
                <a:highlight>
                  <a:srgbClr val="FFFFFF"/>
                </a:highlight>
                <a:latin typeface="Times New Roman"/>
                <a:ea typeface="+mn-lt"/>
                <a:cs typeface="Times New Roman"/>
              </a:rPr>
              <a:t>figsize</a:t>
            </a:r>
            <a:r>
              <a:rPr lang="en-US" sz="1800" dirty="0">
                <a:solidFill>
                  <a:schemeClr val="tx1"/>
                </a:solidFill>
                <a:highlight>
                  <a:srgbClr val="FFFFFF"/>
                </a:highlight>
                <a:latin typeface="Times New Roman"/>
                <a:ea typeface="+mn-lt"/>
                <a:cs typeface="Times New Roman"/>
              </a:rPr>
              <a:t>=(14, 7)) </a:t>
            </a:r>
            <a:br>
              <a:rPr lang="en-US" sz="1800" dirty="0">
                <a:highlight>
                  <a:srgbClr val="FFFFFF"/>
                </a:highlight>
                <a:latin typeface="Times New Roman"/>
                <a:ea typeface="+mn-lt"/>
                <a:cs typeface="Times New Roman"/>
              </a:rPr>
            </a:b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sns.boxplot</a:t>
            </a:r>
            <a:r>
              <a:rPr lang="en-US" sz="1800" dirty="0">
                <a:solidFill>
                  <a:schemeClr val="tx1"/>
                </a:solidFill>
                <a:highlight>
                  <a:srgbClr val="FFFFFF"/>
                </a:highlight>
                <a:latin typeface="Times New Roman"/>
                <a:ea typeface="+mn-lt"/>
                <a:cs typeface="Times New Roman"/>
              </a:rPr>
              <a:t>( </a:t>
            </a:r>
            <a:br>
              <a:rPr lang="en-US" sz="1800" dirty="0">
                <a:highlight>
                  <a:srgbClr val="FFFFFF"/>
                </a:highlight>
                <a:latin typeface="Times New Roman"/>
                <a:ea typeface="+mn-lt"/>
                <a:cs typeface="Times New Roman"/>
              </a:rPr>
            </a:br>
            <a:r>
              <a:rPr lang="en-US" sz="1800" dirty="0">
                <a:solidFill>
                  <a:schemeClr val="tx1"/>
                </a:solidFill>
                <a:highlight>
                  <a:srgbClr val="FFFFFF"/>
                </a:highlight>
                <a:latin typeface="Times New Roman"/>
                <a:ea typeface="+mn-lt"/>
                <a:cs typeface="Times New Roman"/>
              </a:rPr>
              <a:t>x='</a:t>
            </a:r>
            <a:r>
              <a:rPr lang="en-US" sz="1800" dirty="0" err="1">
                <a:solidFill>
                  <a:schemeClr val="tx1"/>
                </a:solidFill>
                <a:highlight>
                  <a:srgbClr val="FFFFFF"/>
                </a:highlight>
                <a:latin typeface="Times New Roman"/>
                <a:ea typeface="+mn-lt"/>
                <a:cs typeface="Times New Roman"/>
              </a:rPr>
              <a:t>Irrigation_Method</a:t>
            </a:r>
            <a:r>
              <a:rPr lang="en-US" sz="1800" dirty="0">
                <a:solidFill>
                  <a:schemeClr val="tx1"/>
                </a:solidFill>
                <a:highlight>
                  <a:srgbClr val="FFFFFF"/>
                </a:highlight>
                <a:latin typeface="Times New Roman"/>
                <a:ea typeface="+mn-lt"/>
                <a:cs typeface="Times New Roman"/>
              </a:rPr>
              <a:t>', </a:t>
            </a:r>
            <a:br>
              <a:rPr lang="en-US" sz="1800" dirty="0">
                <a:highlight>
                  <a:srgbClr val="FFFFFF"/>
                </a:highlight>
                <a:latin typeface="Times New Roman"/>
                <a:ea typeface="+mn-lt"/>
                <a:cs typeface="Times New Roman"/>
              </a:rPr>
            </a:br>
            <a:r>
              <a:rPr lang="en-US" sz="1800" dirty="0">
                <a:solidFill>
                  <a:schemeClr val="tx1"/>
                </a:solidFill>
                <a:highlight>
                  <a:srgbClr val="FFFFFF"/>
                </a:highlight>
                <a:latin typeface="Times New Roman"/>
                <a:ea typeface="+mn-lt"/>
                <a:cs typeface="Times New Roman"/>
              </a:rPr>
              <a:t>y='</a:t>
            </a:r>
            <a:r>
              <a:rPr lang="en-US" sz="1800" dirty="0" err="1">
                <a:solidFill>
                  <a:schemeClr val="tx1"/>
                </a:solidFill>
                <a:highlight>
                  <a:srgbClr val="FFFFFF"/>
                </a:highlight>
                <a:latin typeface="Times New Roman"/>
                <a:ea typeface="+mn-lt"/>
                <a:cs typeface="Times New Roman"/>
              </a:rPr>
              <a:t>Yield_Tonnes_Ha</a:t>
            </a:r>
            <a:r>
              <a:rPr lang="en-US" sz="1800" dirty="0">
                <a:solidFill>
                  <a:schemeClr val="tx1"/>
                </a:solidFill>
                <a:highlight>
                  <a:srgbClr val="FFFFFF"/>
                </a:highlight>
                <a:latin typeface="Times New Roman"/>
                <a:ea typeface="+mn-lt"/>
                <a:cs typeface="Times New Roman"/>
              </a:rPr>
              <a:t>', hue='Season', data=</a:t>
            </a:r>
            <a:r>
              <a:rPr lang="en-US" sz="1800" dirty="0" err="1">
                <a:solidFill>
                  <a:schemeClr val="tx1"/>
                </a:solidFill>
                <a:highlight>
                  <a:srgbClr val="FFFFFF"/>
                </a:highlight>
                <a:latin typeface="Times New Roman"/>
                <a:ea typeface="+mn-lt"/>
                <a:cs typeface="Times New Roman"/>
              </a:rPr>
              <a:t>df</a:t>
            </a:r>
            <a:r>
              <a:rPr lang="en-US" sz="1800" dirty="0">
                <a:solidFill>
                  <a:schemeClr val="tx1"/>
                </a:solidFill>
                <a:highlight>
                  <a:srgbClr val="FFFFFF"/>
                </a:highlight>
                <a:latin typeface="Times New Roman"/>
                <a:ea typeface="+mn-lt"/>
                <a:cs typeface="Times New Roman"/>
              </a:rPr>
              <a:t> ) </a:t>
            </a:r>
            <a:endParaRPr lang="en-US" sz="1800">
              <a:solidFill>
                <a:schemeClr val="tx1"/>
              </a:solidFill>
              <a:latin typeface="Times New Roman"/>
              <a:ea typeface="+mn-lt"/>
              <a:cs typeface="Times New Roman"/>
            </a:endParaRPr>
          </a:p>
          <a:p>
            <a:pPr>
              <a:buNone/>
            </a:pP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plt.title</a:t>
            </a:r>
            <a:r>
              <a:rPr lang="en-US" sz="1800" dirty="0">
                <a:solidFill>
                  <a:schemeClr val="tx1"/>
                </a:solidFill>
                <a:highlight>
                  <a:srgbClr val="FFFFFF"/>
                </a:highlight>
                <a:latin typeface="Times New Roman"/>
                <a:ea typeface="+mn-lt"/>
                <a:cs typeface="Times New Roman"/>
              </a:rPr>
              <a:t>("Yield Distribution by Irrigation Method and Season")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plt.xlabel</a:t>
            </a:r>
            <a:r>
              <a:rPr lang="en-US" sz="1800" dirty="0">
                <a:solidFill>
                  <a:schemeClr val="tx1"/>
                </a:solidFill>
                <a:highlight>
                  <a:srgbClr val="FFFFFF"/>
                </a:highlight>
                <a:latin typeface="Times New Roman"/>
                <a:ea typeface="+mn-lt"/>
                <a:cs typeface="Times New Roman"/>
              </a:rPr>
              <a:t>("Irrigation Method")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plt.ylabel</a:t>
            </a:r>
            <a:r>
              <a:rPr lang="en-US" sz="1800" dirty="0">
                <a:solidFill>
                  <a:schemeClr val="tx1"/>
                </a:solidFill>
                <a:highlight>
                  <a:srgbClr val="FFFFFF"/>
                </a:highlight>
                <a:latin typeface="Times New Roman"/>
                <a:ea typeface="+mn-lt"/>
                <a:cs typeface="Times New Roman"/>
              </a:rPr>
              <a:t>("Yield (</a:t>
            </a:r>
            <a:r>
              <a:rPr lang="en-US" sz="1800" dirty="0" err="1">
                <a:solidFill>
                  <a:schemeClr val="tx1"/>
                </a:solidFill>
                <a:highlight>
                  <a:srgbClr val="FFFFFF"/>
                </a:highlight>
                <a:latin typeface="Times New Roman"/>
                <a:ea typeface="+mn-lt"/>
                <a:cs typeface="Times New Roman"/>
              </a:rPr>
              <a:t>Tonnes</a:t>
            </a:r>
            <a:r>
              <a:rPr lang="en-US" sz="1800" dirty="0">
                <a:solidFill>
                  <a:schemeClr val="tx1"/>
                </a:solidFill>
                <a:highlight>
                  <a:srgbClr val="FFFFFF"/>
                </a:highlight>
                <a:latin typeface="Times New Roman"/>
                <a:ea typeface="+mn-lt"/>
                <a:cs typeface="Times New Roman"/>
              </a:rPr>
              <a:t>/Ha)")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plt.xticks</a:t>
            </a:r>
            <a:r>
              <a:rPr lang="en-US" sz="1800" dirty="0">
                <a:solidFill>
                  <a:schemeClr val="tx1"/>
                </a:solidFill>
                <a:highlight>
                  <a:srgbClr val="FFFFFF"/>
                </a:highlight>
                <a:latin typeface="Times New Roman"/>
                <a:ea typeface="+mn-lt"/>
                <a:cs typeface="Times New Roman"/>
              </a:rPr>
              <a:t>(rotation=45)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plt.legend</a:t>
            </a:r>
            <a:r>
              <a:rPr lang="en-US" sz="1800" dirty="0">
                <a:solidFill>
                  <a:schemeClr val="tx1"/>
                </a:solidFill>
                <a:highlight>
                  <a:srgbClr val="FFFFFF"/>
                </a:highlight>
                <a:latin typeface="Times New Roman"/>
                <a:ea typeface="+mn-lt"/>
                <a:cs typeface="Times New Roman"/>
              </a:rPr>
              <a:t>(title="Season")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plt.tight_layout</a:t>
            </a:r>
            <a:r>
              <a:rPr lang="en-US" sz="1800" dirty="0">
                <a:solidFill>
                  <a:schemeClr val="tx1"/>
                </a:solidFill>
                <a:highlight>
                  <a:srgbClr val="FFFFFF"/>
                </a:highlight>
                <a:latin typeface="Times New Roman"/>
                <a:ea typeface="+mn-lt"/>
                <a:cs typeface="Times New Roman"/>
              </a:rPr>
              <a:t>() </a:t>
            </a:r>
            <a:br>
              <a:rPr lang="en-US" sz="1800" dirty="0">
                <a:highlight>
                  <a:srgbClr val="FFFFFF"/>
                </a:highlight>
                <a:latin typeface="Times New Roman"/>
                <a:ea typeface="+mn-lt"/>
                <a:cs typeface="Times New Roman"/>
              </a:rPr>
            </a:br>
            <a:r>
              <a:rPr lang="en-US" sz="1800" dirty="0" err="1">
                <a:solidFill>
                  <a:schemeClr val="tx1"/>
                </a:solidFill>
                <a:highlight>
                  <a:srgbClr val="FFFFFF"/>
                </a:highlight>
                <a:latin typeface="Times New Roman"/>
                <a:ea typeface="+mn-lt"/>
                <a:cs typeface="Times New Roman"/>
              </a:rPr>
              <a:t>plt.show</a:t>
            </a:r>
            <a:r>
              <a:rPr lang="en-US" sz="1800" dirty="0">
                <a:solidFill>
                  <a:schemeClr val="tx1"/>
                </a:solidFill>
                <a:highlight>
                  <a:srgbClr val="FFFFFF"/>
                </a:highlight>
                <a:latin typeface="Times New Roman"/>
                <a:ea typeface="+mn-lt"/>
                <a:cs typeface="Times New Roman"/>
              </a:rPr>
              <a:t>() </a:t>
            </a:r>
            <a:endParaRPr lang="en-US" sz="1800">
              <a:solidFill>
                <a:schemeClr val="tx1"/>
              </a:solidFill>
              <a:latin typeface="Times New Roman"/>
              <a:cs typeface="Times New Roman"/>
            </a:endParaRPr>
          </a:p>
          <a:p>
            <a:pPr>
              <a:buNone/>
            </a:pPr>
            <a:endParaRPr lang="en-US" sz="1800" dirty="0">
              <a:solidFill>
                <a:schemeClr val="tx1"/>
              </a:solidFill>
              <a:highlight>
                <a:srgbClr val="FFFFFF"/>
              </a:highlight>
              <a:latin typeface="Times New Roman"/>
              <a:cs typeface="Times New Roman"/>
            </a:endParaRPr>
          </a:p>
        </p:txBody>
      </p:sp>
      <p:pic>
        <p:nvPicPr>
          <p:cNvPr id="2" name="Picture 1">
            <a:extLst>
              <a:ext uri="{FF2B5EF4-FFF2-40B4-BE49-F238E27FC236}">
                <a16:creationId xmlns:a16="http://schemas.microsoft.com/office/drawing/2014/main" id="{73A671F1-1B5F-0D48-79AA-661B13A9ECF3}"/>
              </a:ext>
            </a:extLst>
          </p:cNvPr>
          <p:cNvPicPr>
            <a:picLocks noChangeAspect="1"/>
          </p:cNvPicPr>
          <p:nvPr/>
        </p:nvPicPr>
        <p:blipFill>
          <a:blip r:embed="rId3"/>
          <a:stretch>
            <a:fillRect/>
          </a:stretch>
        </p:blipFill>
        <p:spPr>
          <a:xfrm>
            <a:off x="0" y="1272182"/>
            <a:ext cx="6722302" cy="457459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3420053" cy="778806"/>
          </a:xfrm>
        </p:spPr>
        <p:txBody>
          <a:bodyPr>
            <a:normAutofit fontScale="90000"/>
          </a:bodyPr>
          <a:lstStyle/>
          <a:p>
            <a:r>
              <a:rPr lang="en-GB" dirty="0"/>
              <a:t>RESULTS (5)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600452" y="1045473"/>
            <a:ext cx="5715630" cy="5623630"/>
          </a:xfrm>
        </p:spPr>
        <p:txBody>
          <a:bodyPr vert="horz" lIns="91440" tIns="45720" rIns="91440" bIns="45720" rtlCol="0" anchor="t">
            <a:noAutofit/>
          </a:bodyPr>
          <a:lstStyle/>
          <a:p>
            <a:pPr>
              <a:buNone/>
            </a:pPr>
            <a:r>
              <a:rPr lang="en-US" sz="1800" dirty="0">
                <a:solidFill>
                  <a:schemeClr val="tx1"/>
                </a:solidFill>
                <a:highlight>
                  <a:srgbClr val="FFFFFF"/>
                </a:highlight>
                <a:ea typeface="+mn-lt"/>
                <a:cs typeface="+mn-lt"/>
              </a:rPr>
              <a:t> Multivariate Analysis: Economic Performance by Season </a:t>
            </a:r>
            <a:br>
              <a:rPr lang="en-US" sz="1800" dirty="0">
                <a:highlight>
                  <a:srgbClr val="FFFFFF"/>
                </a:highlight>
                <a:ea typeface="+mn-lt"/>
                <a:cs typeface="+mn-lt"/>
              </a:rPr>
            </a:br>
            <a:br>
              <a:rPr lang="en-US" sz="1800" dirty="0">
                <a:highlight>
                  <a:srgbClr val="FFFFFF"/>
                </a:highlight>
                <a:ea typeface="+mn-lt"/>
                <a:cs typeface="+mn-lt"/>
              </a:rPr>
            </a:br>
            <a:r>
              <a:rPr lang="en-US" sz="1800" dirty="0" err="1">
                <a:solidFill>
                  <a:schemeClr val="tx1"/>
                </a:solidFill>
                <a:highlight>
                  <a:srgbClr val="FFFFFF"/>
                </a:highlight>
                <a:ea typeface="+mn-lt"/>
                <a:cs typeface="+mn-lt"/>
              </a:rPr>
              <a:t>economic_summary</a:t>
            </a:r>
            <a:r>
              <a:rPr lang="en-US" sz="1800" dirty="0">
                <a:solidFill>
                  <a:schemeClr val="tx1"/>
                </a:solidFill>
                <a:highlight>
                  <a:srgbClr val="FFFFFF"/>
                </a:highlight>
                <a:ea typeface="+mn-lt"/>
                <a:cs typeface="+mn-lt"/>
              </a:rPr>
              <a:t> = </a:t>
            </a:r>
            <a:r>
              <a:rPr lang="en-US" sz="1800" dirty="0" err="1">
                <a:solidFill>
                  <a:schemeClr val="tx1"/>
                </a:solidFill>
                <a:highlight>
                  <a:srgbClr val="FFFFFF"/>
                </a:highlight>
                <a:ea typeface="+mn-lt"/>
                <a:cs typeface="+mn-lt"/>
              </a:rPr>
              <a:t>df.groupby</a:t>
            </a:r>
            <a:r>
              <a:rPr lang="en-US" sz="1800" dirty="0">
                <a:solidFill>
                  <a:schemeClr val="tx1"/>
                </a:solidFill>
                <a:highlight>
                  <a:srgbClr val="FFFFFF"/>
                </a:highlight>
                <a:ea typeface="+mn-lt"/>
                <a:cs typeface="+mn-lt"/>
              </a:rPr>
              <a:t>('Season')[[ </a:t>
            </a:r>
            <a:br>
              <a:rPr lang="en-US" sz="1800" dirty="0">
                <a:highlight>
                  <a:srgbClr val="FFFFFF"/>
                </a:highlight>
                <a:ea typeface="+mn-lt"/>
                <a:cs typeface="+mn-lt"/>
              </a:rPr>
            </a:br>
            <a:r>
              <a:rPr lang="en-US" sz="1800" dirty="0">
                <a:solidFill>
                  <a:schemeClr val="tx1"/>
                </a:solidFill>
                <a:highlight>
                  <a:srgbClr val="FFFFFF"/>
                </a:highlight>
                <a:ea typeface="+mn-lt"/>
                <a:cs typeface="+mn-lt"/>
              </a:rPr>
              <a:t>'</a:t>
            </a:r>
            <a:r>
              <a:rPr lang="en-US" sz="1800" dirty="0" err="1">
                <a:solidFill>
                  <a:schemeClr val="tx1"/>
                </a:solidFill>
                <a:highlight>
                  <a:srgbClr val="FFFFFF"/>
                </a:highlight>
                <a:ea typeface="+mn-lt"/>
                <a:cs typeface="+mn-lt"/>
              </a:rPr>
              <a:t>Total_Cost_INR</a:t>
            </a:r>
            <a:r>
              <a:rPr lang="en-US" sz="1800" dirty="0">
                <a:solidFill>
                  <a:schemeClr val="tx1"/>
                </a:solidFill>
                <a:highlight>
                  <a:srgbClr val="FFFFFF"/>
                </a:highlight>
                <a:ea typeface="+mn-lt"/>
                <a:cs typeface="+mn-lt"/>
              </a:rPr>
              <a:t>', '</a:t>
            </a:r>
            <a:r>
              <a:rPr lang="en-US" sz="1800" dirty="0" err="1">
                <a:solidFill>
                  <a:schemeClr val="tx1"/>
                </a:solidFill>
                <a:highlight>
                  <a:srgbClr val="FFFFFF"/>
                </a:highlight>
                <a:ea typeface="+mn-lt"/>
                <a:cs typeface="+mn-lt"/>
              </a:rPr>
              <a:t>Revenue_INR</a:t>
            </a:r>
            <a:r>
              <a:rPr lang="en-US" sz="1800" dirty="0">
                <a:solidFill>
                  <a:schemeClr val="tx1"/>
                </a:solidFill>
                <a:highlight>
                  <a:srgbClr val="FFFFFF"/>
                </a:highlight>
                <a:ea typeface="+mn-lt"/>
                <a:cs typeface="+mn-lt"/>
              </a:rPr>
              <a:t>', </a:t>
            </a:r>
            <a:br>
              <a:rPr lang="en-US" sz="1800" dirty="0">
                <a:highlight>
                  <a:srgbClr val="FFFFFF"/>
                </a:highlight>
                <a:ea typeface="+mn-lt"/>
                <a:cs typeface="+mn-lt"/>
              </a:rPr>
            </a:br>
            <a:r>
              <a:rPr lang="en-US" sz="1800" dirty="0">
                <a:solidFill>
                  <a:schemeClr val="tx1"/>
                </a:solidFill>
                <a:highlight>
                  <a:srgbClr val="FFFFFF"/>
                </a:highlight>
                <a:ea typeface="+mn-lt"/>
                <a:cs typeface="+mn-lt"/>
              </a:rPr>
              <a:t>'</a:t>
            </a:r>
            <a:r>
              <a:rPr lang="en-US" sz="1800" dirty="0" err="1">
                <a:solidFill>
                  <a:schemeClr val="tx1"/>
                </a:solidFill>
                <a:highlight>
                  <a:srgbClr val="FFFFFF"/>
                </a:highlight>
                <a:ea typeface="+mn-lt"/>
                <a:cs typeface="+mn-lt"/>
              </a:rPr>
              <a:t>Profit_INR</a:t>
            </a:r>
            <a:r>
              <a:rPr lang="en-US" sz="1800" dirty="0">
                <a:solidFill>
                  <a:schemeClr val="tx1"/>
                </a:solidFill>
                <a:highlight>
                  <a:srgbClr val="FFFFFF"/>
                </a:highlight>
                <a:ea typeface="+mn-lt"/>
                <a:cs typeface="+mn-lt"/>
              </a:rPr>
              <a:t>' ]].mean() </a:t>
            </a:r>
            <a:br>
              <a:rPr lang="en-US" sz="1800" dirty="0">
                <a:highlight>
                  <a:srgbClr val="FFFFFF"/>
                </a:highlight>
                <a:ea typeface="+mn-lt"/>
                <a:cs typeface="+mn-lt"/>
              </a:rPr>
            </a:br>
            <a:br>
              <a:rPr lang="en-US" sz="1800" dirty="0">
                <a:highlight>
                  <a:srgbClr val="FFFFFF"/>
                </a:highlight>
                <a:ea typeface="+mn-lt"/>
                <a:cs typeface="+mn-lt"/>
              </a:rPr>
            </a:br>
            <a:r>
              <a:rPr lang="en-US" sz="1800" dirty="0" err="1">
                <a:solidFill>
                  <a:schemeClr val="tx1"/>
                </a:solidFill>
                <a:highlight>
                  <a:srgbClr val="FFFFFF"/>
                </a:highlight>
                <a:ea typeface="+mn-lt"/>
                <a:cs typeface="+mn-lt"/>
              </a:rPr>
              <a:t>economic_summary.plot</a:t>
            </a:r>
            <a:r>
              <a:rPr lang="en-US" sz="1800" dirty="0">
                <a:solidFill>
                  <a:schemeClr val="tx1"/>
                </a:solidFill>
                <a:highlight>
                  <a:srgbClr val="FFFFFF"/>
                </a:highlight>
                <a:ea typeface="+mn-lt"/>
                <a:cs typeface="+mn-lt"/>
              </a:rPr>
              <a:t>( kind='bar', </a:t>
            </a:r>
            <a:r>
              <a:rPr lang="en-US" sz="1800" dirty="0" err="1">
                <a:solidFill>
                  <a:schemeClr val="tx1"/>
                </a:solidFill>
                <a:highlight>
                  <a:srgbClr val="FFFFFF"/>
                </a:highlight>
                <a:ea typeface="+mn-lt"/>
                <a:cs typeface="+mn-lt"/>
              </a:rPr>
              <a:t>figsize</a:t>
            </a:r>
            <a:r>
              <a:rPr lang="en-US" sz="1800" dirty="0">
                <a:solidFill>
                  <a:schemeClr val="tx1"/>
                </a:solidFill>
                <a:highlight>
                  <a:srgbClr val="FFFFFF"/>
                </a:highlight>
                <a:ea typeface="+mn-lt"/>
                <a:cs typeface="+mn-lt"/>
              </a:rPr>
              <a:t>=(12,6)) </a:t>
            </a:r>
            <a:br>
              <a:rPr lang="en-US" sz="1800" dirty="0">
                <a:highlight>
                  <a:srgbClr val="FFFFFF"/>
                </a:highlight>
                <a:ea typeface="+mn-lt"/>
                <a:cs typeface="+mn-lt"/>
              </a:rPr>
            </a:br>
            <a:br>
              <a:rPr lang="en-US" sz="1800" dirty="0">
                <a:highlight>
                  <a:srgbClr val="FFFFFF"/>
                </a:highlight>
                <a:ea typeface="+mn-lt"/>
                <a:cs typeface="+mn-lt"/>
              </a:rPr>
            </a:br>
            <a:r>
              <a:rPr lang="en-US" sz="1800" dirty="0" err="1">
                <a:solidFill>
                  <a:schemeClr val="tx1"/>
                </a:solidFill>
                <a:highlight>
                  <a:srgbClr val="FFFFFF"/>
                </a:highlight>
                <a:ea typeface="+mn-lt"/>
                <a:cs typeface="+mn-lt"/>
              </a:rPr>
              <a:t>plt.title</a:t>
            </a:r>
            <a:r>
              <a:rPr lang="en-US" sz="1800" dirty="0">
                <a:solidFill>
                  <a:schemeClr val="tx1"/>
                </a:solidFill>
                <a:highlight>
                  <a:srgbClr val="FFFFFF"/>
                </a:highlight>
                <a:ea typeface="+mn-lt"/>
                <a:cs typeface="+mn-lt"/>
              </a:rPr>
              <a:t>("Economic Performance Across Seasons")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plt.xlabel</a:t>
            </a:r>
            <a:r>
              <a:rPr lang="en-US" sz="1800" dirty="0">
                <a:solidFill>
                  <a:schemeClr val="tx1"/>
                </a:solidFill>
                <a:highlight>
                  <a:srgbClr val="FFFFFF"/>
                </a:highlight>
                <a:ea typeface="+mn-lt"/>
                <a:cs typeface="+mn-lt"/>
              </a:rPr>
              <a:t>("Season")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plt.ylabel</a:t>
            </a:r>
            <a:r>
              <a:rPr lang="en-US" sz="1800" dirty="0">
                <a:solidFill>
                  <a:schemeClr val="tx1"/>
                </a:solidFill>
                <a:highlight>
                  <a:srgbClr val="FFFFFF"/>
                </a:highlight>
                <a:ea typeface="+mn-lt"/>
                <a:cs typeface="+mn-lt"/>
              </a:rPr>
              <a:t>("Average Amount (INR)")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plt.xticks</a:t>
            </a:r>
            <a:r>
              <a:rPr lang="en-US" sz="1800" dirty="0">
                <a:solidFill>
                  <a:schemeClr val="tx1"/>
                </a:solidFill>
                <a:highlight>
                  <a:srgbClr val="FFFFFF"/>
                </a:highlight>
                <a:ea typeface="+mn-lt"/>
                <a:cs typeface="+mn-lt"/>
              </a:rPr>
              <a:t>(rotation=45)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plt.legend</a:t>
            </a:r>
            <a:r>
              <a:rPr lang="en-US" sz="1800" dirty="0">
                <a:solidFill>
                  <a:schemeClr val="tx1"/>
                </a:solidFill>
                <a:highlight>
                  <a:srgbClr val="FFFFFF"/>
                </a:highlight>
                <a:ea typeface="+mn-lt"/>
                <a:cs typeface="+mn-lt"/>
              </a:rPr>
              <a:t>(title="Economic Metric")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plt.tight_layout</a:t>
            </a:r>
            <a:r>
              <a:rPr lang="en-US" sz="1800" dirty="0">
                <a:solidFill>
                  <a:schemeClr val="tx1"/>
                </a:solidFill>
                <a:highlight>
                  <a:srgbClr val="FFFFFF"/>
                </a:highlight>
                <a:ea typeface="+mn-lt"/>
                <a:cs typeface="+mn-lt"/>
              </a:rPr>
              <a:t>() </a:t>
            </a:r>
            <a:br>
              <a:rPr lang="en-US" sz="1800" dirty="0">
                <a:highlight>
                  <a:srgbClr val="FFFFFF"/>
                </a:highlight>
                <a:ea typeface="+mn-lt"/>
                <a:cs typeface="+mn-lt"/>
              </a:rPr>
            </a:br>
            <a:r>
              <a:rPr lang="en-US" sz="1800" dirty="0" err="1">
                <a:solidFill>
                  <a:schemeClr val="tx1"/>
                </a:solidFill>
                <a:highlight>
                  <a:srgbClr val="FFFFFF"/>
                </a:highlight>
                <a:ea typeface="+mn-lt"/>
                <a:cs typeface="+mn-lt"/>
              </a:rPr>
              <a:t>plt.show</a:t>
            </a:r>
            <a:r>
              <a:rPr lang="en-US" sz="1800" dirty="0">
                <a:solidFill>
                  <a:schemeClr val="tx1"/>
                </a:solidFill>
                <a:highlight>
                  <a:srgbClr val="FFFFFF"/>
                </a:highlight>
                <a:ea typeface="+mn-lt"/>
                <a:cs typeface="+mn-lt"/>
              </a:rPr>
              <a:t>()</a:t>
            </a:r>
            <a:endParaRPr lang="en-US" sz="1800">
              <a:solidFill>
                <a:schemeClr val="tx1"/>
              </a:solidFill>
            </a:endParaRPr>
          </a:p>
          <a:p>
            <a:pPr>
              <a:buNone/>
            </a:pPr>
            <a:endParaRPr lang="en-US" sz="1800" dirty="0">
              <a:solidFill>
                <a:schemeClr val="tx1"/>
              </a:solidFill>
              <a:highlight>
                <a:srgbClr val="FFFFFF"/>
              </a:highlight>
            </a:endParaRPr>
          </a:p>
        </p:txBody>
      </p:sp>
      <p:pic>
        <p:nvPicPr>
          <p:cNvPr id="2" name="Picture 1">
            <a:extLst>
              <a:ext uri="{FF2B5EF4-FFF2-40B4-BE49-F238E27FC236}">
                <a16:creationId xmlns:a16="http://schemas.microsoft.com/office/drawing/2014/main" id="{90F83ACA-BDBB-DA0C-8B01-23DD4A898F73}"/>
              </a:ext>
            </a:extLst>
          </p:cNvPr>
          <p:cNvPicPr>
            <a:picLocks noChangeAspect="1"/>
          </p:cNvPicPr>
          <p:nvPr/>
        </p:nvPicPr>
        <p:blipFill>
          <a:blip r:embed="rId3"/>
          <a:stretch>
            <a:fillRect/>
          </a:stretch>
        </p:blipFill>
        <p:spPr>
          <a:xfrm>
            <a:off x="196241" y="1127864"/>
            <a:ext cx="6288067" cy="500936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652425"/>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FA34223-6D36-16B7-E787-2B174EB83520}"/>
              </a:ext>
            </a:extLst>
          </p:cNvPr>
          <p:cNvSpPr txBox="1"/>
          <p:nvPr/>
        </p:nvSpPr>
        <p:spPr>
          <a:xfrm>
            <a:off x="266765" y="1947768"/>
            <a:ext cx="10769057"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AI-Based Prediction: </a:t>
            </a:r>
            <a:r>
              <a:rPr lang="en-US" dirty="0">
                <a:ea typeface="+mn-lt"/>
                <a:cs typeface="+mn-lt"/>
              </a:rPr>
              <a:t>Creating models that can predict yield, profit, etc.</a:t>
            </a:r>
            <a:endParaRPr lang="en-US" dirty="0"/>
          </a:p>
          <a:p>
            <a:r>
              <a:rPr lang="en-US" dirty="0">
                <a:ea typeface="+mn-lt"/>
                <a:cs typeface="+mn-lt"/>
              </a:rPr>
              <a:t>Crop Recommendation: Recommend the best crop to be planted on the basis of season and available resources like soil, water, weather conditions, etc.</a:t>
            </a:r>
            <a:endParaRPr lang="en-US" dirty="0"/>
          </a:p>
          <a:p>
            <a:r>
              <a:rPr lang="en-US" dirty="0">
                <a:ea typeface="+mn-lt"/>
                <a:cs typeface="+mn-lt"/>
              </a:rPr>
              <a:t>Weather and Climate: Include weather and climate data in the program for more accuracy.</a:t>
            </a:r>
            <a:endParaRPr lang="en-US" dirty="0"/>
          </a:p>
          <a:p>
            <a:r>
              <a:rPr lang="en-US" dirty="0">
                <a:ea typeface="+mn-lt"/>
                <a:cs typeface="+mn-lt"/>
              </a:rPr>
              <a:t>Optimized Requirement: AI can be used to find out the optimized </a:t>
            </a:r>
            <a:r>
              <a:rPr lang="en-US" dirty="0" err="1">
                <a:ea typeface="+mn-lt"/>
                <a:cs typeface="+mn-lt"/>
              </a:rPr>
              <a:t>requirementof</a:t>
            </a:r>
            <a:r>
              <a:rPr lang="en-US" dirty="0">
                <a:ea typeface="+mn-lt"/>
                <a:cs typeface="+mn-lt"/>
              </a:rPr>
              <a:t> water, fertilizer, and irrigation.</a:t>
            </a:r>
            <a:endParaRPr lang="en-US" dirty="0"/>
          </a:p>
          <a:p>
            <a:r>
              <a:rPr lang="en-US" b="1" dirty="0">
                <a:ea typeface="+mn-lt"/>
                <a:cs typeface="+mn-lt"/>
              </a:rPr>
              <a:t>Prediction of Disease and Pests</a:t>
            </a:r>
            <a:r>
              <a:rPr lang="en-US" dirty="0">
                <a:ea typeface="+mn-lt"/>
                <a:cs typeface="+mn-lt"/>
              </a:rPr>
              <a:t>: The program can predict the possible </a:t>
            </a:r>
          </a:p>
          <a:p>
            <a:r>
              <a:rPr lang="en-US" dirty="0">
                <a:ea typeface="+mn-lt"/>
                <a:cs typeface="+mn-lt"/>
              </a:rPr>
              <a:t>occurrence of disease and pests on the basis of weather and crop data.</a:t>
            </a:r>
            <a:endParaRPr lang="en-US" dirty="0"/>
          </a:p>
          <a:p>
            <a:r>
              <a:rPr lang="en-US" dirty="0">
                <a:ea typeface="+mn-lt"/>
                <a:cs typeface="+mn-lt"/>
              </a:rPr>
              <a:t>Smart Dashboard: The project can be taken to the next level by developing a dashboard or mobile application that can give real-time suggestions to the farmer or agricultural department.</a:t>
            </a:r>
            <a:endParaRPr lang="en-US" dirty="0"/>
          </a:p>
          <a:p>
            <a:r>
              <a:rPr lang="en-US" dirty="0">
                <a:ea typeface="+mn-lt"/>
                <a:cs typeface="+mn-lt"/>
              </a:rPr>
              <a:t>More Data Sets: The project can be trained on more data sets so that it can be used in different parts of the world and for different crops.</a:t>
            </a:r>
            <a:endParaRPr lang="en-US" dirty="0"/>
          </a:p>
          <a:p>
            <a:endParaRPr lang="en-US" dirty="0">
              <a:ea typeface="+mn-lt"/>
              <a:cs typeface="+mn-lt"/>
            </a:endParaRPr>
          </a:p>
          <a:p>
            <a:endParaRPr lang="en-US" dirty="0">
              <a:ea typeface="+mn-lt"/>
              <a:cs typeface="+mn-lt"/>
            </a:endParaRPr>
          </a:p>
          <a:p>
            <a:r>
              <a:rPr lang="en-US" b="1" dirty="0">
                <a:ea typeface="+mn-lt"/>
                <a:cs typeface="+mn-lt"/>
              </a:rPr>
              <a:t>Future Vision</a:t>
            </a:r>
            <a:endParaRPr lang="en-US" b="1"/>
          </a:p>
          <a:p>
            <a:r>
              <a:rPr lang="en-US" dirty="0">
                <a:ea typeface="+mn-lt"/>
                <a:cs typeface="+mn-lt"/>
              </a:rPr>
              <a:t>From analysis of past data to AI-based analysis, recommendation, and smart agriculture.</a:t>
            </a:r>
            <a:endParaRPr lang="en-US" dirty="0"/>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CF03BD1-EBB9-C2CA-DBFC-2D6A0AC280BB}"/>
              </a:ext>
            </a:extLst>
          </p:cNvPr>
          <p:cNvSpPr txBox="1"/>
          <p:nvPr/>
        </p:nvSpPr>
        <p:spPr>
          <a:xfrm>
            <a:off x="674608" y="1941639"/>
            <a:ext cx="789566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hlinkClick r:id="rId3">
                  <a:extLst>
                    <a:ext uri="{A12FA001-AC4F-418D-AE19-62706E023703}">
                      <ahyp:hlinkClr xmlns:ahyp="http://schemas.microsoft.com/office/drawing/2018/hyperlinkcolor" val="tx"/>
                    </a:ext>
                  </a:extLst>
                </a:hlinkClick>
              </a:rPr>
              <a:t>LINK :</a:t>
            </a:r>
            <a:endParaRPr lang="en-US" sz="2400">
              <a:ea typeface="+mn-lt"/>
              <a:cs typeface="+mn-lt"/>
            </a:endParaRPr>
          </a:p>
          <a:p>
            <a:r>
              <a:rPr lang="en-US" sz="2400" dirty="0">
                <a:ea typeface="+mn-lt"/>
                <a:cs typeface="+mn-lt"/>
                <a:hlinkClick r:id="rId4"/>
              </a:rPr>
              <a:t>https://github.com/Maanyak13/Seasonal-Agriculture-Performance-Analysis-.git</a:t>
            </a:r>
            <a:endParaRPr lang="en-US" dirty="0">
              <a:ea typeface="+mn-lt"/>
              <a:cs typeface="+mn-lt"/>
              <a:hlinkClick r:id="rId4"/>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D0EE420-DF98-6464-1740-B58E01DC135E}"/>
              </a:ext>
            </a:extLst>
          </p:cNvPr>
          <p:cNvPicPr>
            <a:picLocks noChangeAspect="1"/>
          </p:cNvPicPr>
          <p:nvPr/>
        </p:nvPicPr>
        <p:blipFill>
          <a:blip r:embed="rId3"/>
          <a:stretch>
            <a:fillRect/>
          </a:stretch>
        </p:blipFill>
        <p:spPr>
          <a:xfrm>
            <a:off x="1259971" y="1492685"/>
            <a:ext cx="8513401" cy="497909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496712" y="1284440"/>
            <a:ext cx="8062357" cy="2902607"/>
          </a:xfrm>
          <a:prstGeom prst="rect">
            <a:avLst/>
          </a:prstGeom>
        </p:spPr>
        <p:txBody>
          <a:bodyPr anchor="ctr">
            <a:normAutofit/>
          </a:bodyPr>
          <a:lstStyle/>
          <a:p>
            <a:pPr algn="ctr"/>
            <a:r>
              <a:rPr lang="en-US" sz="72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556</TotalTime>
  <Words>71</Words>
  <Application>Microsoft Office PowerPoint</Application>
  <PresentationFormat>Widescreen</PresentationFormat>
  <Paragraphs>18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DATA  ANALYSIS</vt:lpstr>
      <vt:lpstr>PROBLEM  STATEMENT</vt:lpstr>
      <vt:lpstr>Project Description   Project Overview: Analyzes agricultural data across different seasons, crops, regions, environmental conditions, farming practices, resource usage, and economic factors to identify meaningful patterns and variations in agricultural performance.  What We Analyze: 🌦️ Environmental Factors: Rainfall, temperature, humidity, soil conditions 🌱 Farming Factors: Crop, irrigation, fertilizer, pesticide, seed quality 📊 Performance: Yield, production, water usage &amp; efficiency 💰 Economics: Cost, revenue, market price &amp; profit 📍 Regional &amp; Seasonal: Comparison across states, crops and seasons  Approach: Data Cleaning → Statistical Analysis → Visualization → Seasonal Comparison → Bivariate &amp; Multivariate Analysis → Insights &amp; Recommendations  Outcome: Provides evidence-based insights to understand seasonal agricultural performance and support data-driven crop planning, resource management, and decision-making.   </vt:lpstr>
      <vt:lpstr>WHO ARE THE END USERS?</vt:lpstr>
      <vt:lpstr>Technology Used</vt:lpstr>
      <vt:lpstr>RESULTS (1)</vt:lpstr>
      <vt:lpstr>RESULTS (2)</vt:lpstr>
      <vt:lpstr>RESULTS (3) </vt:lpstr>
      <vt:lpstr>RESULTS (4)</vt:lpstr>
      <vt:lpstr>RESULTS (5)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461</cp:revision>
  <dcterms:created xsi:type="dcterms:W3CDTF">2021-07-11T13:13:15Z</dcterms:created>
  <dcterms:modified xsi:type="dcterms:W3CDTF">2026-09-09T15:42:33Z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